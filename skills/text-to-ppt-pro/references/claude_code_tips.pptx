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讲师备注：大家好，今天要分享的是我使用 Claude Code 大半年以来踩过的坑和总结出来的核心使用技巧。一开始我以为 Claude Code 只是一个更高级的 Copilot，后来才发现它的上限远比想象得高，但前提是你得知道怎么用。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讲师备注：在展开具体技巧之前，先说一个最重要的心态。Claude Code 是一个极其能干的协作者，但绝对不是自动驾驶。方向盘始终在你手里。今天要讲的所有技巧，按重要性排序就是屏幕上这六点。大家先有个整体概念，我们逐个展开。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讲师备注：今天的分享分为六个部分。从最核心的 CLAUDE.md 开始，到提示词技巧、Plan Mode、子 Agent 和上下文管理、权限与 Git 工作流，最后是进阶功能和避坑指南。我们一个个来。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讲师备注：第一部分，也是我认为最重要的部分——CLAUDE.md。如果你只记住今天分享的一件事，就记这个。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讲师备注：CLAUDE.md 是 Claude Code 每次对话开始时自动读取的指令文件，就像你给一个新同事写的入职文档。很多人不写或者随便写两行，结果每次都要从头解释项目结构。写好它有三个原则：写代码里读不出来的东西、控制在 200 行以内、不放频繁变化的内容。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讲师备注：Claude Code 支持四级 CLAUDE.md，优先级从高到低依次是项目根目录、rules 目录、全局配置和系统默认。当项目大了之后，你可以把规则拆到 .claude/rules/ 目录下，甚至用 YAML frontmatter 限定到特定文件类型，这样节省上下文空间。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讲师备注：第二部分，提示词技巧。这听起来像废话，但我见过太多人给 Claude 模糊指令然后对着一大坨代码发愁。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讲师备注：大家看屏幕上的对比。左边这种模糊指令，Claude 要猜很多东西。右边的好指令，把文件路径、API地址、debounce时间、样式规范全说清楚了。好的指令包含三个要素：目标、约束和上下文。减少歧义就是减少返工。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讲师备注：官方推荐了四个提示技巧。第一，用 @ 符号引用具体文件，甚至指定行号范围。第二，直接粘贴截图，调 UI 问题时一张图胜过千言万语。第三，给验证标准，比如修完后跑哪个测试用例。第四，明确说不要做什么，防止 Claude 过度热心。另外，探索性任务用模糊指令反而更好，但到实现阶段要切回精确模式。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讲师备注：第三部分，Plan Mode。这是我认为最被低估的工作流。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讲师备注：Plan Mode 进入后 Claude 只能读文件搜索代码，不能修改。关键操作是 Ctrl+G，可以在编辑器里打开并编辑计划，删掉不同意的部分，补上自己的想法。官方推荐的标准流程是探索、规划、实现、验证四步。如果任务只有一种实现方式，直接做就行，不需要 Plan Mode。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讲师备注：第四部分，子 Agent 和上下文管理，这是两个紧密相关的话题。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讲师备注：子 Agent 有三种类型。最大的价值是隔离上下文。当你跑测试、分析日志时，海量输出留在子 Agent 里，只有摘要返回。按 Ctrl+B 还能放后台运行。你还可以在 .claude/agents/ 目录下创建自定义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讲师备注：上下文管理有五个实用策略。/clear 一件事做完就清空，/compact 手动压缩并可以指定焦点，/context 查看上下文被谁吃了，用子 Agent 隔离噪声，还可以在 CLAUDE.md 里写压缩时必须保留的信息。另外 Memory 和 CLAUDE.md 用途不同，Memory 存偏好和决策，不要存代码细节。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讲师备注：第五部分，权限管理、Hooks 和 Git 安全工作流。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讲师备注：权限方面，Claude Code 有五种模式，规则优先级是 deny 最高。你可以大胆 allow 常用命令同时 deny 保护 .env 之类的敏感文件。Hooks 是铁律级别的机制，比如每次编辑后自动格式化，或者阻止修改生产配置，exit code 0 表示允许，2 表示阻止。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讲师备注：Git Worktree 是官方提供的安全网，在 .claude/worktrees/ 下创建独立副本。四条铁律大家记住：不自动 push、频繁 commit、警惕破坏性操作、善用 PR 恢复上下文。下面是常用快捷键和命令速查，大家可以截图保存。特别推荐 /init，对新项目特别有用。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讲师备注：最后一部分，进阶功能和避坑指南。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讲师备注：三个进阶功能。Extended Thinking 让 Claude 花更多时间推理，适合复杂问题。MCP Server 连接外部工具，但注意 token 消耗。IDE 集成方面，VS Code 和 JetBrains 都有插件支持。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讲师备注：四个'不要做'。第一不做你完全不了解的事，第二不在没有版本控制的环境下用，第三大任务要拆小，第四别指望一次完美，迭代加 /rewind 才是正确姿势。另外审查代码方面，常见问题是过度工程、幻觉 API 和改动范围膨胀，可以用 Writer/Reviewer 双会话模式来解决。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讲师备注：总结一下，Claude Code 的核心哲学就是方向盘在你手里。做到这六点，效率翻倍。做不到，它只会更快地帮你制造混乱。工具的价值，永远取决于使用它的人。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讲师备注：感谢大家的时间，希望今天的分享能帮助大家更好地使用 Claude Code。如果你有更好的实践经验，欢迎交流！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576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548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7772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20"/>
              </a:lnSpc>
              <a:spcBef>
                <a:spcPts val="0"/>
              </a:spcBef>
            </a:pPr>
            <a:r>
              <a:rPr sz="3600" b="1">
                <a:solidFill>
                  <a:srgbClr val="F8FAFC"/>
                </a:solidFill>
                <a:latin typeface="微软雅黑" panose="020B0503020204020204" charset="-122"/>
              </a:rPr>
              <a:t>Claude Code 使用技巧</a:t>
            </a:r>
            <a:endParaRPr sz="36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0">
                <a:solidFill>
                  <a:srgbClr val="38BDF8"/>
                </a:solidFill>
                <a:latin typeface="微软雅黑" panose="020B0503020204020204" charset="-122"/>
              </a:rPr>
              <a:t>实战</a:t>
            </a:r>
            <a:r>
              <a:rPr lang="zh-CN" sz="1600" b="0">
                <a:solidFill>
                  <a:srgbClr val="38BDF8"/>
                </a:solidFill>
                <a:latin typeface="微软雅黑" panose="020B0503020204020204" charset="-122"/>
              </a:rPr>
              <a:t>经验</a:t>
            </a:r>
            <a:r>
              <a:rPr sz="1600" b="0">
                <a:solidFill>
                  <a:srgbClr val="38BDF8"/>
                </a:solidFill>
                <a:latin typeface="微软雅黑" panose="020B0503020204020204" charset="-122"/>
              </a:rPr>
              <a:t>与隐藏功能完整整理</a:t>
            </a:r>
            <a:endParaRPr sz="160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从 CLAUDE.md 到 Plan Mode，从上下文管理到 Git 安全工作流
一篇来自真实项目的深度经验总结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9436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sz="1000" b="0">
                <a:solidFill>
                  <a:srgbClr val="94A3B8"/>
                </a:solidFill>
                <a:latin typeface="微软雅黑" panose="020B0503020204020204" charset="-122"/>
              </a:rPr>
              <a:t>N</a:t>
            </a:r>
            <a:r>
              <a:rPr lang="en-US" sz="1000" b="0">
                <a:solidFill>
                  <a:srgbClr val="94A3B8"/>
                </a:solidFill>
                <a:latin typeface="微软雅黑" panose="020B0503020204020204" charset="-122"/>
              </a:rPr>
              <a:t>anford</a:t>
            </a:r>
            <a:endParaRPr lang="en-US" sz="10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01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核心理念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使用 Claude Code 前最重要的一句话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645920"/>
          </a:xfrm>
          <a:prstGeom prst="roundRect">
            <a:avLst>
              <a:gd name="adj" fmla="val 4000"/>
            </a:avLst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520"/>
              </a:lnSpc>
              <a:spcBef>
                <a:spcPts val="0"/>
              </a:spcBef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</a:rPr>
              <a:t>它是一个极其能干的协作者
但不是自动驾驶——方向盘始终在你手里</a:t>
            </a:r>
            <a:endParaRPr sz="2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01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写好 CLAUDE.md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14600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02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精确指令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22C55E"/>
                </a:solidFill>
                <a:latin typeface="Segoe UI" panose="020B0502040204020203"/>
              </a:rPr>
              <a:t>03</a:t>
            </a:r>
            <a:endParaRPr sz="2800" b="1">
              <a:solidFill>
                <a:srgbClr val="22C55E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Plan Mode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F59E0B"/>
                </a:solidFill>
                <a:latin typeface="Segoe UI" panose="020B0502040204020203"/>
              </a:rPr>
              <a:t>04</a:t>
            </a:r>
            <a:endParaRPr sz="2800" b="1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管理上下文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38159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EF4444"/>
                </a:solidFill>
                <a:latin typeface="Segoe UI" panose="020B0502040204020203"/>
              </a:rPr>
              <a:t>05</a:t>
            </a:r>
            <a:endParaRPr sz="2800" b="1">
              <a:solidFill>
                <a:srgbClr val="EF4444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19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控制权限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012680" y="3474720"/>
            <a:ext cx="1691640" cy="14630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36118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22C55E"/>
                </a:solidFill>
                <a:latin typeface="Segoe UI" panose="020B0502040204020203"/>
              </a:rPr>
              <a:t>06</a:t>
            </a:r>
            <a:endParaRPr sz="2800" b="1">
              <a:solidFill>
                <a:srgbClr val="22C55E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49840" y="416052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微软雅黑" panose="020B0503020204020204" charset="-122"/>
              </a:rPr>
              <a:t>频繁 Commit</a:t>
            </a:r>
            <a:endParaRPr sz="1100" b="1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sz="1000" b="0">
                <a:solidFill>
                  <a:srgbClr val="94A3B8"/>
                </a:solidFill>
                <a:latin typeface="微软雅黑" panose="020B0503020204020204" charset="-122"/>
              </a:rPr>
              <a:t>按重要性排序的六大核心要素</a:t>
            </a:r>
            <a:endParaRPr sz="10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02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内容概览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01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CLAUDE.md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最被低估的功能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02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提示词技巧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指令质量决定产出质量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59" y="137160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554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03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59" y="21488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Plan Mode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59" y="260604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先想清楚再动手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04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7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子 Agent 与上下文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7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分身术与上下文管理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89120" y="3749039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319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05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17720" y="452627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权限、Hooks 与 Git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720" y="498347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安全和效率的平衡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38159" y="3749039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39319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</a:pPr>
            <a:r>
              <a:rPr sz="2800" b="1">
                <a:solidFill>
                  <a:srgbClr val="38BDF8"/>
                </a:solidFill>
                <a:latin typeface="Segoe UI" panose="020B0502040204020203"/>
              </a:rPr>
              <a:t>06</a:t>
            </a:r>
            <a:endParaRPr sz="2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59" y="452627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进阶功能与避坑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4983479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Extended Thinking / MCP / 避坑指南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03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01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CLAUDE.md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如果你只记住一件事，就记这个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04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CLAUDE.md — 最被低估的功能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每次对话自动读取的指令文件，你的 AI 同事入职文档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029200" cy="48463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它是什么？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Claude Code 每次对话开始时自动读取的指令文件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20"/>
              </a:lnSpc>
              <a:spcAft>
                <a:spcPts val="400"/>
              </a:spcAft>
            </a:pPr>
          </a:p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类比：给新同事写的 Onboarding 文档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你希望他知道什么，你就写什么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20"/>
              </a:lnSpc>
              <a:spcAft>
                <a:spcPts val="400"/>
              </a:spcAft>
            </a:pPr>
          </a:p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不写 CLAUDE.md 的后果：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每次对话都要从头解释项目结构、编码规范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2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就像每天早上重新给同事介绍一遍公司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669280" cy="48463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三大写作原则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120640" cy="1188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300" b="1">
                <a:solidFill>
                  <a:srgbClr val="F8FAFC"/>
                </a:solidFill>
                <a:latin typeface="微软雅黑" panose="020B0503020204020204" charset="-122"/>
              </a:rPr>
              <a:t>01  写代码里读不出来的东西</a:t>
            </a:r>
            <a:endParaRPr sz="13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75"/>
              </a:lnSpc>
              <a:spcBef>
                <a:spcPts val="0"/>
              </a:spcBef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</a:rPr>
              <a:t>"为什么"比"是什么"重要
如：我们选 Tailwind 是因为团队统一了规范</a:t>
            </a:r>
            <a:endParaRPr sz="105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120640" cy="1188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300" b="1">
                <a:solidFill>
                  <a:srgbClr val="F8FAFC"/>
                </a:solidFill>
                <a:latin typeface="微软雅黑" panose="020B0503020204020204" charset="-122"/>
              </a:rPr>
              <a:t>02  控制在 200 行以内</a:t>
            </a:r>
            <a:endParaRPr sz="13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75"/>
              </a:lnSpc>
              <a:spcBef>
                <a:spcPts val="0"/>
              </a:spcBef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</a:rPr>
              <a:t>官方文档明确提到
太长会导致 Claude 忽略规则</a:t>
            </a:r>
            <a:endParaRPr sz="105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4800600"/>
            <a:ext cx="5120640" cy="1188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</a:pPr>
            <a:r>
              <a:rPr sz="1300" b="1">
                <a:solidFill>
                  <a:srgbClr val="F8FAFC"/>
                </a:solidFill>
                <a:latin typeface="微软雅黑" panose="020B0503020204020204" charset="-122"/>
              </a:rPr>
              <a:t>03  不放频繁变化的内容</a:t>
            </a:r>
            <a:endParaRPr sz="13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52578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75"/>
              </a:lnSpc>
              <a:spcBef>
                <a:spcPts val="0"/>
              </a:spcBef>
            </a:pPr>
            <a:r>
              <a:rPr sz="1050" b="0">
                <a:solidFill>
                  <a:srgbClr val="94A3B8"/>
                </a:solidFill>
                <a:latin typeface="微软雅黑" panose="020B0503020204020204" charset="-122"/>
              </a:rPr>
              <a:t>详细 API 文档、逐文件描述等
放链接就好</a:t>
            </a:r>
            <a:endParaRPr sz="105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05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CLAUDE.md 四级层级与规则拆分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按优先级从高到低自动加载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25880" y="1371600"/>
            <a:ext cx="9601200" cy="9144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</a:rPr>
              <a:t>最高</a:t>
            </a:r>
            <a:endParaRPr sz="11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4813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项目根目录 CLAUDE.md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18470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项目级规则，团队共享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25879" y="2514600"/>
            <a:ext cx="8503920" cy="9144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22C55E"/>
                </a:solidFill>
                <a:latin typeface="微软雅黑" panose="020B0503020204020204" charset="-122"/>
              </a:rPr>
              <a:t>高</a:t>
            </a:r>
            <a:endParaRPr sz="1100" b="1">
              <a:solidFill>
                <a:srgbClr val="22C55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26243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.claude/rules/ 目录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3160" y="29900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可按文件类型 glob 匹配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25880" y="3657600"/>
            <a:ext cx="7406640" cy="9144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794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F59E0B"/>
                </a:solidFill>
                <a:latin typeface="微软雅黑" panose="020B0503020204020204" charset="-122"/>
              </a:rPr>
              <a:t>中</a:t>
            </a:r>
            <a:endParaRPr sz="11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3160" y="37673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全局 ~/.claude/CLAUDE.md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3160" y="4133087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个人偏好，跨项目生效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25880" y="4800600"/>
            <a:ext cx="6309360" cy="9144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937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1">
                <a:solidFill>
                  <a:srgbClr val="94A3B8"/>
                </a:solidFill>
                <a:latin typeface="微软雅黑" panose="020B0503020204020204" charset="-122"/>
              </a:rPr>
              <a:t>低</a:t>
            </a:r>
            <a:endParaRPr sz="1100" b="1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3160" y="49103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系统默认规则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3160" y="52760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Claude Code 内置行为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5852160"/>
            <a:ext cx="10881360" cy="822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</a:rPr>
              <a:t>进阶技巧</a:t>
            </a:r>
            <a:endParaRPr sz="12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59893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用 YAML frontmatter 限定规则作用范围 — glob: "src/**/*.ts" 仅在 TypeScript 文件中生效，节省上下文空间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06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02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提示词技巧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指令的质量决定产出的质量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07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差的指令 vs 好的指令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好的指令 = 目标 + 约束 + 上下文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E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EF4444"/>
                </a:solidFill>
                <a:latin typeface="微软雅黑" panose="020B0503020204020204" charset="-122"/>
              </a:rPr>
              <a:t>差的指令</a:t>
            </a:r>
            <a:endParaRPr sz="1500" b="1">
              <a:solidFill>
                <a:srgbClr val="EF44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</a:rPr>
              <a:t>"给用户列表加个搜索功能"</a:t>
            </a:r>
            <a:endParaRPr sz="14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前端搜索还是后端搜索？不知道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debounce 多少毫秒？不知道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样式跟谁保持一致？不知道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Claude 只能猜，猜错了你还得返工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0F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22C55E"/>
                </a:solidFill>
                <a:latin typeface="微软雅黑" panose="020B0503020204020204" charset="-122"/>
              </a:rPr>
              <a:t>好的指令</a:t>
            </a:r>
            <a:endParaRPr sz="1500" b="1">
              <a:solidFill>
                <a:srgbClr val="22C55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</a:rPr>
              <a:t>精确到文件、API、时间、样式</a:t>
            </a:r>
            <a:endParaRPr sz="14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在 @src/pages/UserList.tsx 表格上方加搜索框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搜索走后端 API /api/users?search=xxx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用 debounce 300ms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87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样式和现有 Filter 组件保持一致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</a:rPr>
              <a:t>核心公式：好的指令 = 目标（做什么）+ 约束（怎么做、不做什么）+ 上下文（相关文件、验证标准）</a:t>
            </a:r>
            <a:endParaRPr sz="12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08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四个官方推荐提示技巧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sz="2000" b="1">
                <a:solidFill>
                  <a:srgbClr val="38BDF8"/>
                </a:solidFill>
                <a:latin typeface="Segoe UI" panose="020B0502040204020203"/>
              </a:rPr>
              <a:t>01</a:t>
            </a:r>
            <a:endParaRPr sz="20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@ 引用具体文件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用 @文件路径 拉入上下文
支持行号范围 @file.ts#5-30
比口头描述精确得多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sz="2000" b="1">
                <a:solidFill>
                  <a:srgbClr val="22C55E"/>
                </a:solidFill>
                <a:latin typeface="Segoe UI" panose="020B0502040204020203"/>
              </a:rPr>
              <a:t>02</a:t>
            </a:r>
            <a:endParaRPr sz="2000" b="1">
              <a:solidFill>
                <a:srgbClr val="22C55E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Ctrl+V 粘贴截图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调试 UI 问题时
贴现状截图和期望截图
比文字描述有效十倍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sz="2000" b="1">
                <a:solidFill>
                  <a:srgbClr val="F59E0B"/>
                </a:solidFill>
                <a:latin typeface="Segoe UI" panose="020B0502040204020203"/>
              </a:rPr>
              <a:t>03</a:t>
            </a:r>
            <a:endParaRPr sz="2000" b="1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给验证标准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提供测试用例或预期输出
让 Claude 自我验证
减少来回修改次数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sz="2000" b="1">
                <a:solidFill>
                  <a:srgbClr val="EF4444"/>
                </a:solidFill>
                <a:latin typeface="Segoe UI" panose="020B0502040204020203"/>
              </a:rPr>
              <a:t>04</a:t>
            </a:r>
            <a:endParaRPr sz="2000" b="1">
              <a:solidFill>
                <a:srgbClr val="EF444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明确禁止事项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60" y="448056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Claude 有时过度热心
你让它修 bug 它顺手重构
明确限制范围省很多事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09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03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Plan Mode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改一个计划只需一句话，改代码要花十倍时间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10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Plan Mode — 先想清楚，再动手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sz="1000" b="1">
                <a:solidFill>
                  <a:srgbClr val="38BDF8"/>
                </a:solidFill>
                <a:latin typeface="Segoe UI" panose="020B0502040204020203"/>
              </a:rPr>
              <a:t>Step 1</a:t>
            </a:r>
            <a:endParaRPr sz="10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</a:rPr>
              <a:t>探索</a:t>
            </a:r>
            <a:endParaRPr sz="1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读取文件
搜索代码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6120" y="19202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0" y="13716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463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sz="1000" b="1">
                <a:solidFill>
                  <a:srgbClr val="38BDF8"/>
                </a:solidFill>
                <a:latin typeface="Segoe UI" panose="020B0502040204020203"/>
              </a:rPr>
              <a:t>Step 2</a:t>
            </a:r>
            <a:endParaRPr sz="10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4760" y="17830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</a:rPr>
              <a:t>规划</a:t>
            </a:r>
            <a:endParaRPr sz="1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94760" y="22860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分析需求
生成计划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80760" y="19202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2240" y="13716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63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sz="1000" b="1">
                <a:solidFill>
                  <a:srgbClr val="38BDF8"/>
                </a:solidFill>
                <a:latin typeface="Segoe UI" panose="020B0502040204020203"/>
              </a:rPr>
              <a:t>Step 3</a:t>
            </a:r>
            <a:endParaRPr sz="10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17830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</a:rPr>
              <a:t>编辑</a:t>
            </a:r>
            <a:endParaRPr sz="1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Ctrl+G 打开
修改计划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19202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26880" y="13716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463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sz="1000" b="1">
                <a:solidFill>
                  <a:srgbClr val="38BDF8"/>
                </a:solidFill>
                <a:latin typeface="Segoe UI" panose="020B0502040204020203"/>
              </a:rPr>
              <a:t>Step 4</a:t>
            </a:r>
            <a:endParaRPr sz="10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64040" y="17830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</a:rPr>
              <a:t>执行</a:t>
            </a:r>
            <a:endParaRPr sz="1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64040" y="228600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60"/>
              </a:lnSpc>
              <a:spcBef>
                <a:spcPts val="0"/>
              </a:spcBef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按计划实现
自动验证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94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38BDF8"/>
                </a:solidFill>
                <a:latin typeface="微软雅黑" panose="020B0503020204020204" charset="-122"/>
              </a:rPr>
              <a:t>三种进入方式</a:t>
            </a:r>
            <a:endParaRPr sz="14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输入 /plan 命令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按 Shift+Tab 切换模式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提示词开头写 Plan: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36576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794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59E0B"/>
                </a:solidFill>
                <a:latin typeface="微软雅黑" panose="020B0503020204020204" charset="-122"/>
              </a:rPr>
              <a:t>什么时候不需要 Plan Mode？</a:t>
            </a:r>
            <a:endParaRPr sz="14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改一个变量名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修一个明显的 typo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加一行日志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1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判断标准：实现方式只有一种，直接做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11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04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子 Agent 与上下文管理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分身术 + 上下文精细化控制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12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子 Agent — Claude Code 的分身术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独立进程并行处理，上下文互不污染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38BDF8"/>
                </a:solidFill>
                <a:latin typeface="Segoe UI" panose="020B0502040204020203"/>
              </a:rPr>
              <a:t>Explore</a:t>
            </a:r>
            <a:endParaRPr sz="1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只读模式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快速搜索代码库
找文件、找定义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22C55E"/>
                </a:solidFill>
                <a:latin typeface="Segoe UI" panose="020B0502040204020203"/>
              </a:rPr>
              <a:t>Plan</a:t>
            </a:r>
            <a:endParaRPr sz="1800" b="1">
              <a:solidFill>
                <a:srgbClr val="22C55E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分析模式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研究分析
Plan Mode 下的深度分析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508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</a:pPr>
            <a:r>
              <a:rPr sz="1800" b="1">
                <a:solidFill>
                  <a:srgbClr val="F59E0B"/>
                </a:solidFill>
                <a:latin typeface="Segoe UI" panose="020B0502040204020203"/>
              </a:rPr>
              <a:t>General</a:t>
            </a:r>
            <a:endParaRPr sz="1800" b="1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19" y="1920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完整能力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19" y="2331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复杂多步骤任务
独立执行完整工作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6675120" cy="23774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核心价值：隔离上下文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跑测试、分析日志的海量输出留在子 Agent 里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只有摘要返回给主对话，保持上下文干净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适合：全量测试、大范围代码搜索、代码审查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89520" y="3749039"/>
            <a:ext cx="3931920" cy="237744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38BDF8"/>
                </a:solidFill>
                <a:latin typeface="微软雅黑" panose="020B0503020204020204" charset="-122"/>
              </a:rPr>
              <a:t>Ctrl+B 后台运行</a:t>
            </a:r>
            <a:endParaRPr sz="15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4389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子 Agent 放到后台运行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继续和 Claude 聊其他事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完成后自动通知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还可自定义 Agent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13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上下文管理 — 最容易被忽视的关键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上下文窗口最大 1M token，但管理不好直接影响质量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/clear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做完一件事就清空
保留 CLAUDE.md，免费重启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52044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/compact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手动压缩上下文
可加焦点：/compact 专注于 API 改动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52044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/context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19" y="201168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查看上下文使用情况
哪些文件占了多少 token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52044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94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子 Agent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429768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隔离噪声型操作
测试、日志分析等交给子 Agent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80560" y="3657600"/>
            <a:ext cx="352044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794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压缩保留指令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429768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在 CLAUDE.md 中指定
压缩时必须保留的关键信息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7040880" cy="19659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794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59E0B"/>
                </a:solidFill>
                <a:latin typeface="微软雅黑" panose="020B0503020204020204" charset="-122"/>
              </a:rPr>
              <a:t>Memory vs CLAUDE.md</a:t>
            </a:r>
            <a:endParaRPr sz="14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54880" y="42519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Memory 适合存：个人偏好、项目约定、历史决策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Memory 不适合存：代码细节、Git 历史、临时状态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用 /memory 命令查看和管理所有已加载的 Memory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14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05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权限、Hooks 与 Git 工作流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安全和效率的平衡术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15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权限管理与 Hooks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CLAUDE.md 是建议，Hooks 是铁律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权限管理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五种模式：Shift+Tab 循环切换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规则优先级：deny &gt; ask &gt; allow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deny 最优先，可保护敏感文件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设置文件三级层级：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项目级 .claude/settings.json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全局 ~/.claude/settings.json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本地 .claude/settings.local.json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建议：团队规则放项目级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个人偏好放全局，敏感配置放本地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7548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F59E0B"/>
                </a:solidFill>
                <a:latin typeface="微软雅黑" panose="020B0503020204020204" charset="-122"/>
              </a:rPr>
              <a:t>Hooks — 铁律机制</a:t>
            </a:r>
            <a:endParaRPr sz="16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特定生命周期事件自动触发的 shell 命令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配置在 settings.json 中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实用场景：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每次编辑后自动运行 Prettier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阻止修改生产配置文件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上下文压缩后重新注入关键信息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四种 Hook 类型：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command — 执行 shell 命令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http — POST 请求通知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prompt — LLM 做 yes/no 判断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65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微软雅黑" panose="020B0503020204020204" charset="-122"/>
              </a:rPr>
              <a:t>  agent — 启动子 Agent 验证</a:t>
            </a:r>
            <a:endParaRPr sz="11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16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Git 工作流 — 用好 Worktree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Claude 在 Worktree 里怎么折腾都不影响主分支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675120" cy="2286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38BDF8"/>
                </a:solidFill>
                <a:latin typeface="微软雅黑" panose="020B0503020204020204" charset="-122"/>
              </a:rPr>
              <a:t>Worktree 安全网</a:t>
            </a:r>
            <a:endParaRPr sz="15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在 .claude/worktrees/ 下创建独立分支副本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Claude 在里面操作不影响主分支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退出时：没改动 → 自动清理 | 有改动 → 提示保留或删除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08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EF4444"/>
                </a:solidFill>
                <a:latin typeface="微软雅黑" panose="020B0503020204020204" charset="-122"/>
              </a:rPr>
              <a:t>Git 四条铁律</a:t>
            </a:r>
            <a:endParaRPr sz="1500" b="1">
              <a:solidFill>
                <a:srgbClr val="EF444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永远不自动 push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频繁 commit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警惕破坏性操作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204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从 PR 恢复上下文</a:t>
            </a:r>
            <a:endParaRPr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881360" cy="210312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22C55E"/>
                </a:solidFill>
                <a:latin typeface="微软雅黑" panose="020B0503020204020204" charset="-122"/>
              </a:rPr>
              <a:t>常用快捷键与命令速查</a:t>
            </a:r>
            <a:endParaRPr sz="1500" b="1">
              <a:solidFill>
                <a:srgbClr val="22C55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Ctrl+G — 编辑 Plan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Ctrl+B — 后台 Agent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Shift+Tab — 切换模式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Ctrl+V — 粘贴图片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/plan  /clear  /compact  /context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/memory  /init  /rewind  /freeze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/init 自动分析代码库生成 CLAUDE.md 初稿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72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@文件路径 — 引用文件到上下文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17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40"/>
              </a:lnSpc>
              <a:spcBef>
                <a:spcPts val="0"/>
              </a:spcBef>
            </a:pPr>
            <a:r>
              <a:rPr sz="7200" b="1">
                <a:solidFill>
                  <a:srgbClr val="38BDF8"/>
                </a:solidFill>
                <a:latin typeface="Segoe UI" panose="020B0502040204020203"/>
              </a:rPr>
              <a:t>06</a:t>
            </a:r>
            <a:endParaRPr sz="7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40"/>
              </a:lnSpc>
              <a:spcBef>
                <a:spcPts val="0"/>
              </a:spcBef>
            </a:pPr>
            <a:r>
              <a:rPr sz="3200" b="1">
                <a:solidFill>
                  <a:srgbClr val="F8FAFC"/>
                </a:solidFill>
                <a:latin typeface="微软雅黑" panose="020B0503020204020204" charset="-122"/>
              </a:rPr>
              <a:t>进阶功能与避坑指南</a:t>
            </a:r>
            <a:endParaRPr sz="32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Extended Thinking / MCP / 常见陷阱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18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进阶功能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046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</a:rPr>
              <a:t>Extended Thinking / MCP Server / IDE 集成</a:t>
            </a:r>
            <a:endParaRPr sz="12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</a:rPr>
              <a:t>Extended Thinking</a:t>
            </a:r>
            <a:endParaRPr sz="1600" b="1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让 Claude 想深一点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提示词加 effort: high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或直接写 ultrathink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适用：复杂架构决策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适用：棘手 debug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适用：多步骤重构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22C55E"/>
                </a:solidFill>
                <a:latin typeface="微软雅黑" panose="020B0503020204020204" charset="-122"/>
              </a:rPr>
              <a:t>MCP Server</a:t>
            </a:r>
            <a:endParaRPr sz="1600" b="1">
              <a:solidFill>
                <a:srgbClr val="22C55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连接外部世界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GitHub / 数据库 / Slack / Notion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配置在 .mcp.json 中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每个 server 消耗 100-500+ token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用 /mcp 查看开销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不用的 server 及时禁用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508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1">
                <a:solidFill>
                  <a:srgbClr val="F59E0B"/>
                </a:solidFill>
                <a:latin typeface="微软雅黑" panose="020B0503020204020204" charset="-122"/>
              </a:rPr>
              <a:t>IDE 集成</a:t>
            </a:r>
            <a:endParaRPr sz="1600" b="1">
              <a:solidFill>
                <a:srgbClr val="F59E0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19" y="19202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不只是终端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19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VS Code：Claude Code 扩展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支持并排 diff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Option+K 快速 @ 引用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多标签对话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  <a:p>
            <a:pPr>
              <a:lnSpc>
                <a:spcPts val="1955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JetBrains：全家桶插件支持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19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避坑指南 — 不要用 Claude Code 做的事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EF4444"/>
                </a:solidFill>
                <a:latin typeface="Segoe UI" panose="020B0502040204020203"/>
              </a:rPr>
              <a:t>01</a:t>
            </a:r>
            <a:endParaRPr sz="2400" b="1">
              <a:solidFill>
                <a:srgbClr val="EF4444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19" y="1554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不做你完全不了解的事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19" y="201168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你连对错都判断不了
输出质量无法保证
最终反而浪费更多时间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EF4444"/>
                </a:solidFill>
                <a:latin typeface="Segoe UI" panose="020B0502040204020203"/>
              </a:rPr>
              <a:t>02</a:t>
            </a:r>
            <a:endParaRPr sz="2400" b="1">
              <a:solidFill>
                <a:srgbClr val="EF4444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78040" y="1554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不在无版本控制环境下用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201168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没有 Git = 没有安全网
无法回退 = 无法容错
一个错误可能不可挽回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59E0B"/>
                </a:solidFill>
                <a:latin typeface="Segoe UI" panose="020B0502040204020203"/>
              </a:rPr>
              <a:t>03</a:t>
            </a:r>
            <a:endParaRPr sz="2400" b="1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不一口气扔巨大任务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19" y="448056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大任务要拆小
Claude 的注意力会分散
容易在中后段出错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59E0B"/>
                </a:solidFill>
                <a:latin typeface="Segoe UI" panose="020B0502040204020203"/>
              </a:rPr>
              <a:t>04</a:t>
            </a:r>
            <a:endParaRPr sz="2400" b="1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7804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</a:rPr>
              <a:t>不指望一次就完美</a:t>
            </a:r>
            <a:endParaRPr sz="15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78040" y="448056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spcBef>
                <a:spcPts val="0"/>
              </a:spcBef>
            </a:pPr>
            <a:r>
              <a:rPr sz="1150" b="0">
                <a:solidFill>
                  <a:srgbClr val="CBD5E1"/>
                </a:solidFill>
                <a:latin typeface="微软雅黑" panose="020B0503020204020204" charset="-122"/>
              </a:rPr>
              <a:t>迭代才是正确姿势
善用 /rewind 回退
每次小步前进</a:t>
            </a:r>
            <a:endParaRPr sz="115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6142355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233795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Bef>
                <a:spcPts val="0"/>
              </a:spcBef>
            </a:pPr>
            <a:r>
              <a:rPr sz="1150" b="0">
                <a:solidFill>
                  <a:srgbClr val="38BDF8"/>
                </a:solidFill>
                <a:latin typeface="微软雅黑" panose="020B0503020204020204" charset="-122"/>
              </a:rPr>
              <a:t>代码审查：信任但要验证 — 在 CLAUDE.md 写'优先简单方案'，用 Writer/Reviewer 双会话模式，明确限制改动范围</a:t>
            </a:r>
            <a:endParaRPr sz="1150" b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20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411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</a:rPr>
              <a:t>总结 — 工具的价值取决于使用它的人</a:t>
            </a:r>
            <a:endParaRPr sz="2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240"/>
              </a:lnSpc>
              <a:spcBef>
                <a:spcPts val="0"/>
              </a:spcBef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</a:rPr>
              <a:t>做到这些，Claude Code 能让你的效率翻好几倍
做不到，它只会更快地帮你制造混乱</a:t>
            </a:r>
            <a:endParaRPr sz="18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01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31546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写好 CLAUDE.md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入职文档，200行以内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02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12080" y="31546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给精确指令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208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目标+约束+验证标准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21040" y="30175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03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0" y="31546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用 Plan Mode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先想后做，Ctrl+G编辑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79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04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48006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管理上下文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521207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/clear /compact 保持干净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80560" y="466344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79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05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2080" y="48006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控制权限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2080" y="521207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deny保护 + Hooks铁律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321040" y="466344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754879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</a:pPr>
            <a:r>
              <a:rPr sz="2200" b="1">
                <a:solidFill>
                  <a:srgbClr val="38BDF8"/>
                </a:solidFill>
                <a:latin typeface="Segoe UI" panose="020B0502040204020203"/>
              </a:rPr>
              <a:t>06</a:t>
            </a:r>
            <a:endParaRPr sz="22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52560" y="48006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</a:rPr>
              <a:t>频繁 Commit</a:t>
            </a:r>
            <a:endParaRPr sz="1400" b="1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52560" y="521207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</a:pPr>
            <a:r>
              <a:rPr sz="1100" b="0">
                <a:solidFill>
                  <a:srgbClr val="94A3B8"/>
                </a:solidFill>
                <a:latin typeface="微软雅黑" panose="020B0503020204020204" charset="-122"/>
              </a:rPr>
              <a:t>Worktree安全网 + /rewind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21 / 16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760"/>
              </a:lnSpc>
              <a:spcBef>
                <a:spcPts val="0"/>
              </a:spcBef>
            </a:pPr>
            <a:r>
              <a:rPr sz="4800" b="1">
                <a:solidFill>
                  <a:srgbClr val="38BDF8"/>
                </a:solidFill>
                <a:latin typeface="Segoe UI" panose="020B0502040204020203"/>
              </a:rPr>
              <a:t>Thanks</a:t>
            </a:r>
            <a:endParaRPr sz="4800" b="1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3017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</a:pPr>
            <a:r>
              <a:rPr sz="1600" b="0">
                <a:solidFill>
                  <a:srgbClr val="F8FAFC"/>
                </a:solidFill>
                <a:latin typeface="微软雅黑" panose="020B0503020204020204" charset="-122"/>
              </a:rPr>
              <a:t>希望今天的分享对大家有帮助</a:t>
            </a:r>
            <a:endParaRPr sz="1600" b="0">
              <a:solidFill>
                <a:srgbClr val="F8FAF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3520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</a:pPr>
            <a:r>
              <a:rPr sz="1400" b="0">
                <a:solidFill>
                  <a:srgbClr val="94A3B8"/>
                </a:solidFill>
                <a:latin typeface="微软雅黑" panose="020B0503020204020204" charset="-122"/>
              </a:rPr>
              <a:t>如果你有更好的实践经验，欢迎交流</a:t>
            </a:r>
            <a:endParaRPr sz="14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17320" y="42062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4805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40"/>
              </a:lnSpc>
              <a:spcBef>
                <a:spcPts val="0"/>
              </a:spcBef>
            </a:pPr>
            <a:r>
              <a:rPr lang="en-US" sz="1200" b="0">
                <a:solidFill>
                  <a:srgbClr val="CBD5E1"/>
                </a:solidFill>
                <a:latin typeface="微软雅黑" panose="020B0503020204020204" charset="-122"/>
              </a:rPr>
              <a:t>Nanford</a:t>
            </a:r>
            <a:r>
              <a:rPr sz="1200" b="0">
                <a:solidFill>
                  <a:srgbClr val="CBD5E1"/>
                </a:solidFill>
                <a:latin typeface="微软雅黑" panose="020B0503020204020204" charset="-122"/>
              </a:rPr>
              <a:t>  |  </a:t>
            </a:r>
            <a:r>
              <a:rPr lang="en-US" sz="1200" b="0">
                <a:solidFill>
                  <a:srgbClr val="CBD5E1"/>
                </a:solidFill>
                <a:latin typeface="微软雅黑" panose="020B0503020204020204" charset="-122"/>
              </a:rPr>
              <a:t>2026.03.27</a:t>
            </a:r>
            <a:endParaRPr lang="en-US" sz="12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960"/>
              </a:lnSpc>
              <a:spcBef>
                <a:spcPts val="0"/>
              </a:spcBef>
            </a:pPr>
            <a:r>
              <a:rPr sz="800" b="0">
                <a:solidFill>
                  <a:srgbClr val="94A3B8"/>
                </a:solidFill>
                <a:latin typeface="微软雅黑" panose="020B0503020204020204" charset="-122"/>
              </a:rPr>
              <a:t>22 / 22</a:t>
            </a:r>
            <a:endParaRPr sz="8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4116</Words>
  <Application>WPS 演示</Application>
  <PresentationFormat>On-screen Show (4:3)</PresentationFormat>
  <Paragraphs>553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Segoe UI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L&amp;P</cp:lastModifiedBy>
  <cp:revision>3</cp:revision>
  <dcterms:created xsi:type="dcterms:W3CDTF">2013-01-27T09:14:00Z</dcterms:created>
  <dcterms:modified xsi:type="dcterms:W3CDTF">2026-03-27T12:38:07Z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DB6A591FB08C4F4BA9D55D7AA03E153E_12</vt:lpwstr>
  </property>
</Properties>
</file>