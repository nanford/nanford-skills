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讲师备注：大家好，今天这个培训不讲概念堆砌，也不是追热点榜单。我们的目标很务实：帮大家把 AI 用进真实工作里。整个内容会按四条线走——先认识 AI 的能力边界，再讲怎么用好提示词，接着进入 MCP、Skill、Agent 这些拉开效率差距的能力层，最后讲知识库和自动化。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讲师备注：很多团队一开始用 AI，最大的问题不是不会提问，而是把 AI 当成一个单一工具。实际上 AI 在工作里至少有四种角色——最底层就是问它问题它给你答案；往上一层是你给指令它帮你做事；再往上是它能调用外部工具；最上面一层是它能接入工作流程，成为自动化链条的一部分。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讲师备注：整个教材分四个部分。第一部分帮你建立认知框架；第二部分讲提示词工程；第三部分讲 MCP、Skill、Agent、Project 这些进阶能力；第四部分讲知识库和自动化。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讲师备注：这一块的核心就一句话：先搞清楚 AI 能做什么不能做什么，别把所有事情都往一个聊天框里塞。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讲师备注：对技术团队来说，最有价值的认知不是哪个模型排第一，而是你手上的任务属于哪种类型。模型只是底座，真正影响效果的是你怎么定义任务、给了什么上下文、接了什么工具。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讲师备注：现在 AI 已经不只是会写字了，覆盖了文字、UI、代码、图片、视频、音频和知识库。但对软件公司来说，最值得优先投入的是四类：通用文本、代码 Agent、知识库问答和自动化。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讲师备注：选型至少看五个维度。记住口诀：开放式问题用大模型；基于资料的问题用知识库；改代码用编码 Agent；跨系统用工作流。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讲师备注：接下来进入第二部分。提示词工程听起来不新鲜，但很多人真正用起来的时候，问题恰恰就出在这里。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讲师备注：稳定的 AI 使用能力来自一个最小闭环：先定义任务，再补上下文，再约束输出格式，最后安排校验。很多人只做了第一步就发出去了，结果质量随机波动。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讲师备注：普通提示词适合快问快答，但一到复杂任务就不稳定了。结构化提示词不是为了显得专业，而是为了减少理解偏差、降低重试次数。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讲师备注：五个常用框架，不需要死背缩写，关键是记住几个槽位不能缺。实际工作中完全可以混用。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讲师备注：调试提示词一定要围绕失败点来改，不要通篇乱改。多数情况下问题不在文采，而在信息结构。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讲师备注：这个模板看起来不花哨，但它已经覆盖了高频任务最需要的槽位。真正有价值的不是收藏几百个 prompt，而是沉淀十几个稳定可复用的工作模板。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讲师备注：第三部分是今天最重要的部分。前面讲的是基础，这里要讲的是真正拉开效率差距的东西。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讲师备注：这五个概念不是并列关系，而是一层层叠加的能力。用厨房做比喻：模型是厨师，Prompt 是你说的话，Skill 是菜谱，MCP 是设备，Agent 是助理厨师，Project 是档案柜。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讲师备注：MCP 全称 Model Context Protocol，开源标准，让 AI 标准化接入外部系统。以前每个 AI 接外部系统都要自己做一套，有了 MCP 就可以一次封装多处使用。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讲师备注：Skill 可以理解为提示词的进化版。一个成熟的 Skill 至少要回答六个问题。判断标准很简单：凡是你三周内会重复让 AI 做三次以上的事情，都值得考虑做成 Skill。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讲师备注：Agent 的核心不是能聊天，而是能自己拆任务、调用工具、执行多步动作。但 Agent 不是万能的。规则明确、步骤固定的任务用自动化工作流更好。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讲师备注：Claude Code 最适合的用法不是让它凭空写系统，而是把它当成能读上下文、会执行命令的搭档。典型流程五步，就像结对编程。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讲师备注：Codex 更适合并行子任务，Gemini CLI 更适合终端操作。不管用哪个工具，最稳的用法都一样：先读上下文，再拆任务，再限范围，再做小步验证。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讲师备注：Project 不是多了一个文件夹，而是把长期工作的上下文固定下来。符合三个条件的工作就值得建：有持续上下文、会反复产出、需要固定口径。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讲师备注：最后一部分，我们讲怎么让 AI 从会回答走向真正能落地。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讲师备注：知识库的价值不是把文档存进去，而是让模型回答时站在你的资料上。记住公式：知识库质量等于资料质量乘以检索质量乘以提示词约束。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讲师备注：三种路线分别代表三种定位。NotebookLM 是研究工具，ima 是轻量工作台，Dify 是平台级方案。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讲师备注：当任务涉及定时执行、跨系统同步、审批处理时，纯聊天就不够了，要上工作流。选型公式：越靠近内网选 n8n 或 Dify，越靠近飞书办公选飞书工作流，越靠近线上内容选 Coze 或 Make。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讲师备注：培训结束后不要铺大蓝图，最稳的路线是先挑一个两周内能出结果的场景。内部资料问答、需求文档整理、周报自动生成这些既高频又容易建立信心。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讲师备注：90天推进路线。第一个月建立认知和个人提效；第二个月做小范围知识库试点；第三个月跑通第一个自动化闭环。先让个人获得可见收益，再推动团队共享。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讲师备注：三个核心结论。第一，按任务类型选工具。第二，提示词的价值在于稳定和复用。第三，先让个人用起来拿到收益，再向团队和系统扩展。回去之后，每个人先沉淀一个工作模板和一个 Project。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讲师备注：今天的内容就到这里，谢谢大家。有什么问题我们现在可以交流。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技术团队使用与落地教程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60120" y="28346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从认识 AI 到知识库与自动化的完整路径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60120" y="3429000"/>
            <a:ext cx="109728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适用对象：研发 · 实施 · 测试 · 产品 · 售前技术支持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6126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内容主线：认识 AI → 使用 AI → AI 技能增效 → AI 自动化与知识库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29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导读：AI 在工作中的四种角色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10515600" cy="100584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234440"/>
            <a:ext cx="64008" cy="10058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37160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011680" y="1325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回答问题的模型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011680" y="1737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基于已有知识回答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468880"/>
            <a:ext cx="10515600" cy="100584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2468880"/>
            <a:ext cx="64008" cy="10058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26060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011680" y="2560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按指令产出的执行器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011680" y="2971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给指令，它帮你做事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703320"/>
            <a:ext cx="10515600" cy="100584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3703320"/>
            <a:ext cx="64008" cy="10058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384048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2011680" y="37947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调用外部能力的智能助手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01168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读文件、查数据库、调 API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4937760"/>
            <a:ext cx="10515600" cy="100584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4937760"/>
            <a:ext cx="64008" cy="10058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507492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2011680" y="5029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接入流程的自动化部件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011680" y="5440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嵌入工作流，自动运转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29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内容主线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2514600" cy="384048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463040"/>
            <a:ext cx="25146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8288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005840" y="26517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认识 AI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320040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能力边界与选型逻辑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20440" y="1463040"/>
            <a:ext cx="2514600" cy="384048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20440" y="1463040"/>
            <a:ext cx="25146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3794760" y="18288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794760" y="26517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 AI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94760" y="320040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提示词工程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1463040"/>
            <a:ext cx="2514600" cy="384048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1463040"/>
            <a:ext cx="25146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18288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583680" y="26517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技能增效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83680" y="320040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/ Skill / Agent / Project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98280" y="1463040"/>
            <a:ext cx="2514600" cy="384048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098280" y="1463040"/>
            <a:ext cx="25146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2" name="Text 20"/>
          <p:cNvSpPr/>
          <p:nvPr/>
        </p:nvSpPr>
        <p:spPr>
          <a:xfrm>
            <a:off x="9372600" y="18288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9372600" y="26517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自动化与知识库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372600" y="320040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从'会回答'走向'能落地'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29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828800" y="18288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371600" y="2377440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认识 AI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0" y="3246120"/>
            <a:ext cx="1216152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0" y="347472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先把能力边界和选型逻辑讲清楚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29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不是一个工具，而是一组能力层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5303520" cy="411480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3716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核心认知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按任务类型选工具，不按品牌热度选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05840" y="2651760"/>
            <a:ext cx="86868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65176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任务定义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65960" y="2651760"/>
            <a:ext cx="86868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1965960" y="265176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上下文质量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26080" y="2651760"/>
            <a:ext cx="86868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2926080" y="265176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工具接入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86200" y="2651760"/>
            <a:ext cx="86868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3886200" y="265176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权限边界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46320" y="2651760"/>
            <a:ext cx="86868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265176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流程设计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05840" y="3291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 AI 效果的五个关键要素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0" y="1188720"/>
            <a:ext cx="5029200" cy="411480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1188720"/>
            <a:ext cx="64008" cy="4114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13716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常见误区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766560" y="2011680"/>
            <a:ext cx="43891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把聊天结果好坏，误判为模型能力高低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很多时候失败不是模型不行，而是：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任务定义不清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上下文不够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目标不具体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本该用知识库/Agent/工作流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29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多模态能力矩阵：技术团队应重点关注什么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1371600" cy="5029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430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能力类别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48840" y="1143000"/>
            <a:ext cx="2011680" cy="5029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2148840" y="11430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典型用途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06240" y="1143000"/>
            <a:ext cx="3200400" cy="5029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0" name="Text 8"/>
          <p:cNvSpPr/>
          <p:nvPr/>
        </p:nvSpPr>
        <p:spPr>
          <a:xfrm>
            <a:off x="4206240" y="11430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技术团队常见场景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452360" y="1143000"/>
            <a:ext cx="3017520" cy="5029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7452360" y="11430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选型提醒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1691640"/>
            <a:ext cx="1371600" cy="594360"/>
          </a:xfrm>
          <a:prstGeom prst="rect">
            <a:avLst/>
          </a:prstGeom>
          <a:solidFill>
            <a:srgbClr val="162033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169164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通用文本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148840" y="1691640"/>
            <a:ext cx="2011680" cy="594360"/>
          </a:xfrm>
          <a:prstGeom prst="rect">
            <a:avLst/>
          </a:prstGeom>
          <a:solidFill>
            <a:srgbClr val="162033"/>
          </a:solidFill>
          <a:ln/>
        </p:spPr>
      </p:sp>
      <p:sp>
        <p:nvSpPr>
          <p:cNvPr id="16" name="Text 14"/>
          <p:cNvSpPr/>
          <p:nvPr/>
        </p:nvSpPr>
        <p:spPr>
          <a:xfrm>
            <a:off x="2240280" y="16916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总结/改写/方案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06240" y="1691640"/>
            <a:ext cx="3200400" cy="594360"/>
          </a:xfrm>
          <a:prstGeom prst="rect">
            <a:avLst/>
          </a:prstGeom>
          <a:solidFill>
            <a:srgbClr val="162033"/>
          </a:solidFill>
          <a:ln/>
        </p:spPr>
      </p:sp>
      <p:sp>
        <p:nvSpPr>
          <p:cNvPr id="18" name="Text 16"/>
          <p:cNvSpPr/>
          <p:nvPr/>
        </p:nvSpPr>
        <p:spPr>
          <a:xfrm>
            <a:off x="4297680" y="169164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写方案、需求说明、资料总结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52360" y="1691640"/>
            <a:ext cx="3017520" cy="594360"/>
          </a:xfrm>
          <a:prstGeom prst="rect">
            <a:avLst/>
          </a:prstGeom>
          <a:solidFill>
            <a:srgbClr val="162033"/>
          </a:solidFill>
          <a:ln/>
        </p:spPr>
      </p:sp>
      <p:sp>
        <p:nvSpPr>
          <p:cNvPr id="20" name="Text 18"/>
          <p:cNvSpPr/>
          <p:nvPr/>
        </p:nvSpPr>
        <p:spPr>
          <a:xfrm>
            <a:off x="7543800" y="169164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先看推理与上下文能力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2331720"/>
            <a:ext cx="1371600" cy="594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233172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 / 原型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148840" y="2331720"/>
            <a:ext cx="2011680" cy="594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2"/>
          <p:cNvSpPr/>
          <p:nvPr/>
        </p:nvSpPr>
        <p:spPr>
          <a:xfrm>
            <a:off x="2240280" y="23317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页面框架/组件文案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206240" y="2331720"/>
            <a:ext cx="3200400" cy="594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Text 24"/>
          <p:cNvSpPr/>
          <p:nvPr/>
        </p:nvSpPr>
        <p:spPr>
          <a:xfrm>
            <a:off x="4297680" y="233172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产品草图、方案演示页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452360" y="2331720"/>
            <a:ext cx="3017520" cy="594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8" name="Text 26"/>
          <p:cNvSpPr/>
          <p:nvPr/>
        </p:nvSpPr>
        <p:spPr>
          <a:xfrm>
            <a:off x="7543800" y="233172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先出草图再人工收敛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31520" y="2971800"/>
            <a:ext cx="1371600" cy="594360"/>
          </a:xfrm>
          <a:prstGeom prst="rect">
            <a:avLst/>
          </a:prstGeom>
          <a:solidFill>
            <a:srgbClr val="162033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297180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 / 编程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148840" y="2971800"/>
            <a:ext cx="2011680" cy="594360"/>
          </a:xfrm>
          <a:prstGeom prst="rect">
            <a:avLst/>
          </a:prstGeom>
          <a:solidFill>
            <a:srgbClr val="162033"/>
          </a:solidFill>
          <a:ln/>
        </p:spPr>
      </p:sp>
      <p:sp>
        <p:nvSpPr>
          <p:cNvPr id="32" name="Text 30"/>
          <p:cNvSpPr/>
          <p:nvPr/>
        </p:nvSpPr>
        <p:spPr>
          <a:xfrm>
            <a:off x="2240280" y="29718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脚本/修复/测试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206240" y="2971800"/>
            <a:ext cx="3200400" cy="594360"/>
          </a:xfrm>
          <a:prstGeom prst="rect">
            <a:avLst/>
          </a:prstGeom>
          <a:solidFill>
            <a:srgbClr val="162033"/>
          </a:solidFill>
          <a:ln/>
        </p:spPr>
      </p:sp>
      <p:sp>
        <p:nvSpPr>
          <p:cNvPr id="34" name="Text 32"/>
          <p:cNvSpPr/>
          <p:nvPr/>
        </p:nvSpPr>
        <p:spPr>
          <a:xfrm>
            <a:off x="4297680" y="297180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补功能、写工具脚本、排查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452360" y="2971800"/>
            <a:ext cx="3017520" cy="594360"/>
          </a:xfrm>
          <a:prstGeom prst="rect">
            <a:avLst/>
          </a:prstGeom>
          <a:solidFill>
            <a:srgbClr val="162033"/>
          </a:solidFill>
          <a:ln/>
        </p:spPr>
      </p:sp>
      <p:sp>
        <p:nvSpPr>
          <p:cNvPr id="36" name="Text 34"/>
          <p:cNvSpPr/>
          <p:nvPr/>
        </p:nvSpPr>
        <p:spPr>
          <a:xfrm>
            <a:off x="7543800" y="297180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需仓库上下文和执行权限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31520" y="3611880"/>
            <a:ext cx="1371600" cy="594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8" name="Text 36"/>
          <p:cNvSpPr/>
          <p:nvPr/>
        </p:nvSpPr>
        <p:spPr>
          <a:xfrm>
            <a:off x="822960" y="361188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图片生成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148840" y="3611880"/>
            <a:ext cx="2011680" cy="594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0" name="Text 38"/>
          <p:cNvSpPr/>
          <p:nvPr/>
        </p:nvSpPr>
        <p:spPr>
          <a:xfrm>
            <a:off x="2240280" y="36118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海报/插图/封面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206240" y="3611880"/>
            <a:ext cx="3200400" cy="594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2" name="Text 40"/>
          <p:cNvSpPr/>
          <p:nvPr/>
        </p:nvSpPr>
        <p:spPr>
          <a:xfrm>
            <a:off x="4297680" y="361188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培训配图、方案效果图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452360" y="3611880"/>
            <a:ext cx="3017520" cy="594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4" name="Text 42"/>
          <p:cNvSpPr/>
          <p:nvPr/>
        </p:nvSpPr>
        <p:spPr>
          <a:xfrm>
            <a:off x="7543800" y="361188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强在视觉，不等于事实正确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31520" y="4251960"/>
            <a:ext cx="1371600" cy="594360"/>
          </a:xfrm>
          <a:prstGeom prst="rect">
            <a:avLst/>
          </a:prstGeom>
          <a:solidFill>
            <a:srgbClr val="162033"/>
          </a:solidFill>
          <a:ln/>
        </p:spPr>
      </p:sp>
      <p:sp>
        <p:nvSpPr>
          <p:cNvPr id="46" name="Text 44"/>
          <p:cNvSpPr/>
          <p:nvPr/>
        </p:nvSpPr>
        <p:spPr>
          <a:xfrm>
            <a:off x="822960" y="425196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视频生成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148840" y="4251960"/>
            <a:ext cx="2011680" cy="594360"/>
          </a:xfrm>
          <a:prstGeom prst="rect">
            <a:avLst/>
          </a:prstGeom>
          <a:solidFill>
            <a:srgbClr val="162033"/>
          </a:solidFill>
          <a:ln/>
        </p:spPr>
      </p:sp>
      <p:sp>
        <p:nvSpPr>
          <p:cNvPr id="48" name="Text 46"/>
          <p:cNvSpPr/>
          <p:nvPr/>
        </p:nvSpPr>
        <p:spPr>
          <a:xfrm>
            <a:off x="2240280" y="42519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演示/口播/概念片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206240" y="4251960"/>
            <a:ext cx="3200400" cy="594360"/>
          </a:xfrm>
          <a:prstGeom prst="rect">
            <a:avLst/>
          </a:prstGeom>
          <a:solidFill>
            <a:srgbClr val="162033"/>
          </a:solidFill>
          <a:ln/>
        </p:spPr>
      </p:sp>
      <p:sp>
        <p:nvSpPr>
          <p:cNvPr id="50" name="Text 48"/>
          <p:cNvSpPr/>
          <p:nvPr/>
        </p:nvSpPr>
        <p:spPr>
          <a:xfrm>
            <a:off x="4297680" y="425196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营销演示、培训开场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452360" y="4251960"/>
            <a:ext cx="3017520" cy="594360"/>
          </a:xfrm>
          <a:prstGeom prst="rect">
            <a:avLst/>
          </a:prstGeom>
          <a:solidFill>
            <a:srgbClr val="162033"/>
          </a:solidFill>
          <a:ln/>
        </p:spPr>
      </p:sp>
      <p:sp>
        <p:nvSpPr>
          <p:cNvPr id="52" name="Text 50"/>
          <p:cNvSpPr/>
          <p:nvPr/>
        </p:nvSpPr>
        <p:spPr>
          <a:xfrm>
            <a:off x="7543800" y="425196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适合表达概念，非业务证据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31520" y="4892040"/>
            <a:ext cx="1371600" cy="594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4" name="Text 52"/>
          <p:cNvSpPr/>
          <p:nvPr/>
        </p:nvSpPr>
        <p:spPr>
          <a:xfrm>
            <a:off x="822960" y="489204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知识库问答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148840" y="4892040"/>
            <a:ext cx="2011680" cy="594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6" name="Text 54"/>
          <p:cNvSpPr/>
          <p:nvPr/>
        </p:nvSpPr>
        <p:spPr>
          <a:xfrm>
            <a:off x="2240280" y="48920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带引用回答/报告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206240" y="4892040"/>
            <a:ext cx="3200400" cy="594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8" name="Text 56"/>
          <p:cNvSpPr/>
          <p:nvPr/>
        </p:nvSpPr>
        <p:spPr>
          <a:xfrm>
            <a:off x="4297680" y="489204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读招标文件、技术资料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7452360" y="4892040"/>
            <a:ext cx="3017520" cy="594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0" name="Text 58"/>
          <p:cNvSpPr/>
          <p:nvPr/>
        </p:nvSpPr>
        <p:spPr>
          <a:xfrm>
            <a:off x="7543800" y="489204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资料质量比模型品牌重要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731520" y="5303520"/>
            <a:ext cx="960120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2" name="Shape 60"/>
          <p:cNvSpPr/>
          <p:nvPr/>
        </p:nvSpPr>
        <p:spPr>
          <a:xfrm>
            <a:off x="731520" y="5303520"/>
            <a:ext cx="54864" cy="6400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3" name="Text 61"/>
          <p:cNvSpPr/>
          <p:nvPr/>
        </p:nvSpPr>
        <p:spPr>
          <a:xfrm>
            <a:off x="1097280" y="53035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技术团队优先吃透：通用文本、代码 Agent、知识库问答、自动化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29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选型原则：按任务、上下文和权限来选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1920240" cy="6858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4300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任务本质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880360" y="1143000"/>
            <a:ext cx="1920240" cy="6858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2880360" y="114300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0" y="1143000"/>
            <a:ext cx="1920240" cy="6858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14300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178040" y="1143000"/>
            <a:ext cx="1920240" cy="6858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7178040" y="114300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复用频率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326880" y="1143000"/>
            <a:ext cx="1920240" cy="6858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4" name="Text 12"/>
          <p:cNvSpPr/>
          <p:nvPr/>
        </p:nvSpPr>
        <p:spPr>
          <a:xfrm>
            <a:off x="9326880" y="114300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安全边界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2286000"/>
            <a:ext cx="3474720" cy="640080"/>
          </a:xfrm>
          <a:prstGeom prst="rect">
            <a:avLst/>
          </a:prstGeom>
          <a:solidFill>
            <a:srgbClr val="162033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22860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开放式写作 / 分析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06240" y="22860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663440" y="2286000"/>
            <a:ext cx="256032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22860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通用大模型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406640" y="2286000"/>
            <a:ext cx="3931920" cy="640080"/>
          </a:xfrm>
          <a:prstGeom prst="rect">
            <a:avLst/>
          </a:prstGeom>
          <a:solidFill>
            <a:srgbClr val="162033"/>
          </a:solidFill>
          <a:ln/>
        </p:spPr>
      </p:sp>
      <p:sp>
        <p:nvSpPr>
          <p:cNvPr id="21" name="Text 19"/>
          <p:cNvSpPr/>
          <p:nvPr/>
        </p:nvSpPr>
        <p:spPr>
          <a:xfrm>
            <a:off x="7589520" y="22860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写需求、方案、总结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3063240"/>
            <a:ext cx="3474720" cy="640080"/>
          </a:xfrm>
          <a:prstGeom prst="rect">
            <a:avLst/>
          </a:prstGeom>
          <a:solidFill>
            <a:srgbClr val="162033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30632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基于资料回答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206240" y="306324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663440" y="3063240"/>
            <a:ext cx="256032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30632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406640" y="3063240"/>
            <a:ext cx="3931920" cy="640080"/>
          </a:xfrm>
          <a:prstGeom prst="rect">
            <a:avLst/>
          </a:prstGeom>
          <a:solidFill>
            <a:srgbClr val="162033"/>
          </a:solidFill>
          <a:ln/>
        </p:spPr>
      </p:sp>
      <p:sp>
        <p:nvSpPr>
          <p:cNvPr id="28" name="Text 26"/>
          <p:cNvSpPr/>
          <p:nvPr/>
        </p:nvSpPr>
        <p:spPr>
          <a:xfrm>
            <a:off x="7589520" y="306324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读文档、培训、资料问答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1520" y="3840480"/>
            <a:ext cx="3474720" cy="640080"/>
          </a:xfrm>
          <a:prstGeom prst="rect">
            <a:avLst/>
          </a:prstGeom>
          <a:solidFill>
            <a:srgbClr val="162033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38404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代码修改与执行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206240" y="384048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663440" y="3840480"/>
            <a:ext cx="256032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0" y="38404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 Agent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406640" y="3840480"/>
            <a:ext cx="3931920" cy="640080"/>
          </a:xfrm>
          <a:prstGeom prst="rect">
            <a:avLst/>
          </a:prstGeom>
          <a:solidFill>
            <a:srgbClr val="162033"/>
          </a:solidFill>
          <a:ln/>
        </p:spPr>
      </p:sp>
      <p:sp>
        <p:nvSpPr>
          <p:cNvPr id="35" name="Text 33"/>
          <p:cNvSpPr/>
          <p:nvPr/>
        </p:nvSpPr>
        <p:spPr>
          <a:xfrm>
            <a:off x="7589520" y="38404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排错、改代码、补脚本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31520" y="4617720"/>
            <a:ext cx="3474720" cy="640080"/>
          </a:xfrm>
          <a:prstGeom prst="rect">
            <a:avLst/>
          </a:prstGeom>
          <a:solidFill>
            <a:srgbClr val="162033"/>
          </a:solidFill>
          <a:ln/>
        </p:spPr>
      </p:sp>
      <p:sp>
        <p:nvSpPr>
          <p:cNvPr id="37" name="Text 35"/>
          <p:cNvSpPr/>
          <p:nvPr/>
        </p:nvSpPr>
        <p:spPr>
          <a:xfrm>
            <a:off x="914400" y="46177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长期重复工作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206240" y="461772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663440" y="4617720"/>
            <a:ext cx="256032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0" name="Text 38"/>
          <p:cNvSpPr/>
          <p:nvPr/>
        </p:nvSpPr>
        <p:spPr>
          <a:xfrm>
            <a:off x="4754880" y="46177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 / Skill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406640" y="4617720"/>
            <a:ext cx="3931920" cy="640080"/>
          </a:xfrm>
          <a:prstGeom prst="rect">
            <a:avLst/>
          </a:prstGeom>
          <a:solidFill>
            <a:srgbClr val="162033"/>
          </a:solidFill>
          <a:ln/>
        </p:spPr>
      </p:sp>
      <p:sp>
        <p:nvSpPr>
          <p:cNvPr id="42" name="Text 40"/>
          <p:cNvSpPr/>
          <p:nvPr/>
        </p:nvSpPr>
        <p:spPr>
          <a:xfrm>
            <a:off x="7589520" y="46177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固定模板、知识沉淀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31520" y="5394960"/>
            <a:ext cx="3474720" cy="640080"/>
          </a:xfrm>
          <a:prstGeom prst="rect">
            <a:avLst/>
          </a:prstGeom>
          <a:solidFill>
            <a:srgbClr val="162033"/>
          </a:solidFill>
          <a:ln/>
        </p:spPr>
      </p:sp>
      <p:sp>
        <p:nvSpPr>
          <p:cNvPr id="44" name="Text 42"/>
          <p:cNvSpPr/>
          <p:nvPr/>
        </p:nvSpPr>
        <p:spPr>
          <a:xfrm>
            <a:off x="914400" y="53949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跨系统自动化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206240" y="539496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663440" y="5394960"/>
            <a:ext cx="256032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5"/>
          <p:cNvSpPr/>
          <p:nvPr/>
        </p:nvSpPr>
        <p:spPr>
          <a:xfrm>
            <a:off x="4754880" y="53949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工作流平台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406640" y="5394960"/>
            <a:ext cx="3931920" cy="640080"/>
          </a:xfrm>
          <a:prstGeom prst="rect">
            <a:avLst/>
          </a:prstGeom>
          <a:solidFill>
            <a:srgbClr val="162033"/>
          </a:solidFill>
          <a:ln/>
        </p:spPr>
      </p:sp>
      <p:sp>
        <p:nvSpPr>
          <p:cNvPr id="49" name="Text 47"/>
          <p:cNvSpPr/>
          <p:nvPr/>
        </p:nvSpPr>
        <p:spPr>
          <a:xfrm>
            <a:off x="7589520" y="53949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消息推送、审批、同步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31520" y="6309360"/>
            <a:ext cx="10515600" cy="0"/>
          </a:xfrm>
          <a:prstGeom prst="rect">
            <a:avLst/>
          </a:prstGeom>
          <a:noFill/>
          <a:ln w="12700">
            <a:solidFill>
              <a:srgbClr val="2A3A52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29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828800" y="18288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371600" y="2377440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 AI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0" y="3246120"/>
            <a:ext cx="1216152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0" y="347472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提示词工程是最基础也最容易被低估的能力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29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 AI 的最小闭环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2514600" cy="256032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25146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002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05840" y="2286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定义任务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28346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明确要完成什么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54680" y="21031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520440" y="1371600"/>
            <a:ext cx="2514600" cy="256032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20440" y="1371600"/>
            <a:ext cx="25146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3" name="Text 11"/>
          <p:cNvSpPr/>
          <p:nvPr/>
        </p:nvSpPr>
        <p:spPr>
          <a:xfrm>
            <a:off x="3794760" y="16002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794760" y="2286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补足上下文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794760" y="28346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给资料、背景、约束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0" y="21031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309360" y="1371600"/>
            <a:ext cx="2514600" cy="256032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1371600"/>
            <a:ext cx="25146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16002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583680" y="2286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约束输出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83680" y="28346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定格式、定标准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732520" y="21031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9098280" y="1371600"/>
            <a:ext cx="2514600" cy="256032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098280" y="1371600"/>
            <a:ext cx="25146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5" name="Text 23"/>
          <p:cNvSpPr/>
          <p:nvPr/>
        </p:nvSpPr>
        <p:spPr>
          <a:xfrm>
            <a:off x="9372600" y="16002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9372600" y="2286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安排校验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372600" y="28346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验收、修正、迭代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" y="4389120"/>
            <a:ext cx="10515600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Shape 27"/>
          <p:cNvSpPr/>
          <p:nvPr/>
        </p:nvSpPr>
        <p:spPr>
          <a:xfrm>
            <a:off x="731520" y="4389120"/>
            <a:ext cx="54864" cy="10058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0" name="Text 28"/>
          <p:cNvSpPr/>
          <p:nvPr/>
        </p:nvSpPr>
        <p:spPr>
          <a:xfrm>
            <a:off x="1097280" y="438912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关键提醒：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不只说'做什么'，还要说'基于什么做''做到什么程度''交付成什么样'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29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普通提示词 vs 结构化提示词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5120640" cy="365760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371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普通提示词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0"/>
            <a:ext cx="4572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示例：帮我写一份接口文档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特点：上手快、成本低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问题：上下文不足、格式随机、细节缺失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适合：临时问答、脑暴、快速探索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577840" y="24688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309360" y="1188720"/>
            <a:ext cx="5120640" cy="365760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1188720"/>
            <a:ext cx="54864" cy="36576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1371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C5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结构化提示词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675120" y="2011680"/>
            <a:ext cx="4480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示例：你是后端接口文档助手……基于字段与规范……输出 Markdown 表格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特点：减少偏差、降低重试、提高复用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优势：稳定性更高，可直接交付或轻度修改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适合：方案、代码、文档、培训、知识沉淀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53035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判断标准：是否减少返工、提高稳定性、方便复用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29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提示词框架速查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097280" cy="5029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887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框架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920240" y="1188720"/>
            <a:ext cx="3474720" cy="5029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1920240" y="11887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组成元素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0" y="1188720"/>
            <a:ext cx="5029200" cy="5029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0" y="11887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1783080"/>
            <a:ext cx="1097280" cy="685800"/>
          </a:xfrm>
          <a:prstGeom prst="rect">
            <a:avLst/>
          </a:prstGeom>
          <a:solidFill>
            <a:srgbClr val="162033"/>
          </a:solidFill>
          <a:ln/>
        </p:spPr>
      </p:sp>
      <p:sp>
        <p:nvSpPr>
          <p:cNvPr id="12" name="Shape 10"/>
          <p:cNvSpPr/>
          <p:nvPr/>
        </p:nvSpPr>
        <p:spPr>
          <a:xfrm>
            <a:off x="1920240" y="1783080"/>
            <a:ext cx="3474720" cy="685800"/>
          </a:xfrm>
          <a:prstGeom prst="rect">
            <a:avLst/>
          </a:prstGeom>
          <a:solidFill>
            <a:srgbClr val="162033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0" y="1783080"/>
            <a:ext cx="5029200" cy="685800"/>
          </a:xfrm>
          <a:prstGeom prst="rect">
            <a:avLst/>
          </a:prstGeom>
          <a:solidFill>
            <a:srgbClr val="162033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178308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RTF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057400" y="178308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 + 任务 + 格式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23560" y="178308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入门级，最简单的结构化方法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2560320"/>
            <a:ext cx="1097280" cy="685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Shape 16"/>
          <p:cNvSpPr/>
          <p:nvPr/>
        </p:nvSpPr>
        <p:spPr>
          <a:xfrm>
            <a:off x="1920240" y="2560320"/>
            <a:ext cx="3474720" cy="685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0" y="2560320"/>
            <a:ext cx="5029200" cy="685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256032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CRISPE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057400" y="256032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能力角色 + 背景 + 任务 + 语气 + 探索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23560" y="256032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复杂任务，多维度控制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3337560"/>
            <a:ext cx="1097280" cy="685800"/>
          </a:xfrm>
          <a:prstGeom prst="rect">
            <a:avLst/>
          </a:prstGeom>
          <a:solidFill>
            <a:srgbClr val="162033"/>
          </a:solidFill>
          <a:ln/>
        </p:spPr>
      </p:sp>
      <p:sp>
        <p:nvSpPr>
          <p:cNvPr id="24" name="Shape 22"/>
          <p:cNvSpPr/>
          <p:nvPr/>
        </p:nvSpPr>
        <p:spPr>
          <a:xfrm>
            <a:off x="1920240" y="3337560"/>
            <a:ext cx="3474720" cy="685800"/>
          </a:xfrm>
          <a:prstGeom prst="rect">
            <a:avLst/>
          </a:prstGeom>
          <a:solidFill>
            <a:srgbClr val="162033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0" y="3337560"/>
            <a:ext cx="5029200" cy="685800"/>
          </a:xfrm>
          <a:prstGeom prst="rect">
            <a:avLst/>
          </a:prstGeom>
          <a:solidFill>
            <a:srgbClr val="162033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333756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BROKE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057400" y="333756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 + 角色 + 目标 + 关键结果 + 迭代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23560" y="333756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项目级，需明确交付标准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1520" y="4114800"/>
            <a:ext cx="1097280" cy="685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0" name="Shape 28"/>
          <p:cNvSpPr/>
          <p:nvPr/>
        </p:nvSpPr>
        <p:spPr>
          <a:xfrm>
            <a:off x="1920240" y="4114800"/>
            <a:ext cx="3474720" cy="685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1" name="Shape 29"/>
          <p:cNvSpPr/>
          <p:nvPr/>
        </p:nvSpPr>
        <p:spPr>
          <a:xfrm>
            <a:off x="5486400" y="4114800"/>
            <a:ext cx="5029200" cy="685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411480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COSTAR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2057400" y="411480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 + 目标 + 风格 + 语气 + 受众 + 响应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623560" y="411480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内容创作，精确控制受众语气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31520" y="4892040"/>
            <a:ext cx="1097280" cy="685800"/>
          </a:xfrm>
          <a:prstGeom prst="rect">
            <a:avLst/>
          </a:prstGeom>
          <a:solidFill>
            <a:srgbClr val="162033"/>
          </a:solidFill>
          <a:ln/>
        </p:spPr>
      </p:sp>
      <p:sp>
        <p:nvSpPr>
          <p:cNvPr id="36" name="Shape 34"/>
          <p:cNvSpPr/>
          <p:nvPr/>
        </p:nvSpPr>
        <p:spPr>
          <a:xfrm>
            <a:off x="1920240" y="4892040"/>
            <a:ext cx="3474720" cy="685800"/>
          </a:xfrm>
          <a:prstGeom prst="rect">
            <a:avLst/>
          </a:prstGeom>
          <a:solidFill>
            <a:srgbClr val="162033"/>
          </a:solidFill>
          <a:ln/>
        </p:spPr>
      </p:sp>
      <p:sp>
        <p:nvSpPr>
          <p:cNvPr id="37" name="Shape 35"/>
          <p:cNvSpPr/>
          <p:nvPr/>
        </p:nvSpPr>
        <p:spPr>
          <a:xfrm>
            <a:off x="5486400" y="4892040"/>
            <a:ext cx="5029200" cy="685800"/>
          </a:xfrm>
          <a:prstGeom prst="rect">
            <a:avLst/>
          </a:prstGeom>
          <a:solidFill>
            <a:srgbClr val="162033"/>
          </a:solidFill>
          <a:ln/>
        </p:spPr>
      </p:sp>
      <p:sp>
        <p:nvSpPr>
          <p:cNvPr id="38" name="Text 36"/>
          <p:cNvSpPr/>
          <p:nvPr/>
        </p:nvSpPr>
        <p:spPr>
          <a:xfrm>
            <a:off x="731520" y="489204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RISEN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2057400" y="489204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 + 指令 + 结构 + 示例 + 细节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623560" y="489204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技术文档，高精确度要求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31520" y="5760720"/>
            <a:ext cx="960120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2" name="Text 40"/>
          <p:cNvSpPr/>
          <p:nvPr/>
        </p:nvSpPr>
        <p:spPr>
          <a:xfrm>
            <a:off x="1005840" y="576072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核心记忆：角色、任务、上下文、约束、输出格式、验收标准——这几个槽位不能缺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29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提示词调试：围绕失败点来改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2011680" cy="4572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88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现象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34640" y="1188720"/>
            <a:ext cx="2743200" cy="4572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2834640" y="1188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常见原因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0" y="1188720"/>
            <a:ext cx="4846320" cy="4572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0" y="11887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调试方向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1737360"/>
            <a:ext cx="2011680" cy="594360"/>
          </a:xfrm>
          <a:prstGeom prst="rect">
            <a:avLst/>
          </a:prstGeom>
          <a:solidFill>
            <a:srgbClr val="162033"/>
          </a:solidFill>
          <a:ln/>
        </p:spPr>
      </p:sp>
      <p:sp>
        <p:nvSpPr>
          <p:cNvPr id="12" name="Shape 10"/>
          <p:cNvSpPr/>
          <p:nvPr/>
        </p:nvSpPr>
        <p:spPr>
          <a:xfrm>
            <a:off x="2834640" y="1737360"/>
            <a:ext cx="2743200" cy="594360"/>
          </a:xfrm>
          <a:prstGeom prst="rect">
            <a:avLst/>
          </a:prstGeom>
          <a:solidFill>
            <a:srgbClr val="162033"/>
          </a:solidFill>
          <a:ln/>
        </p:spPr>
      </p:sp>
      <p:sp>
        <p:nvSpPr>
          <p:cNvPr id="13" name="Shape 11"/>
          <p:cNvSpPr/>
          <p:nvPr/>
        </p:nvSpPr>
        <p:spPr>
          <a:xfrm>
            <a:off x="5669280" y="1737360"/>
            <a:ext cx="4846320" cy="594360"/>
          </a:xfrm>
          <a:prstGeom prst="rect">
            <a:avLst/>
          </a:prstGeom>
          <a:solidFill>
            <a:srgbClr val="162033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17373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结果太空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926080" y="17373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背景资料不够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760720" y="173736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补业务资料、样例、约束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2423160"/>
            <a:ext cx="2011680" cy="594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Shape 16"/>
          <p:cNvSpPr/>
          <p:nvPr/>
        </p:nvSpPr>
        <p:spPr>
          <a:xfrm>
            <a:off x="2834640" y="2423160"/>
            <a:ext cx="2743200" cy="594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Shape 17"/>
          <p:cNvSpPr/>
          <p:nvPr/>
        </p:nvSpPr>
        <p:spPr>
          <a:xfrm>
            <a:off x="5669280" y="2423160"/>
            <a:ext cx="4846320" cy="594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24231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结构混乱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926080" y="24231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输出格式未定义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760720" y="242316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规定标题层级、表格、段落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3108960"/>
            <a:ext cx="2011680" cy="594360"/>
          </a:xfrm>
          <a:prstGeom prst="rect">
            <a:avLst/>
          </a:prstGeom>
          <a:solidFill>
            <a:srgbClr val="162033"/>
          </a:solidFill>
          <a:ln/>
        </p:spPr>
      </p:sp>
      <p:sp>
        <p:nvSpPr>
          <p:cNvPr id="24" name="Shape 22"/>
          <p:cNvSpPr/>
          <p:nvPr/>
        </p:nvSpPr>
        <p:spPr>
          <a:xfrm>
            <a:off x="2834640" y="3108960"/>
            <a:ext cx="2743200" cy="594360"/>
          </a:xfrm>
          <a:prstGeom prst="rect">
            <a:avLst/>
          </a:prstGeom>
          <a:solidFill>
            <a:srgbClr val="162033"/>
          </a:solidFill>
          <a:ln/>
        </p:spPr>
      </p:sp>
      <p:sp>
        <p:nvSpPr>
          <p:cNvPr id="25" name="Shape 23"/>
          <p:cNvSpPr/>
          <p:nvPr/>
        </p:nvSpPr>
        <p:spPr>
          <a:xfrm>
            <a:off x="5669280" y="3108960"/>
            <a:ext cx="4846320" cy="594360"/>
          </a:xfrm>
          <a:prstGeom prst="rect">
            <a:avLst/>
          </a:prstGeom>
          <a:solidFill>
            <a:srgbClr val="162033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31089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答非所问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926080" y="31089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任务目标不明确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760720" y="310896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改写任务描述，突出唯一目标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1520" y="3794760"/>
            <a:ext cx="2011680" cy="594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0" name="Shape 28"/>
          <p:cNvSpPr/>
          <p:nvPr/>
        </p:nvSpPr>
        <p:spPr>
          <a:xfrm>
            <a:off x="2834640" y="3794760"/>
            <a:ext cx="2743200" cy="594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1" name="Shape 29"/>
          <p:cNvSpPr/>
          <p:nvPr/>
        </p:nvSpPr>
        <p:spPr>
          <a:xfrm>
            <a:off x="5669280" y="3794760"/>
            <a:ext cx="4846320" cy="594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37947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内容不可信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926080" y="37947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未给资料就开放生成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760720" y="379476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引入文档、知识库或引用约束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31520" y="4480560"/>
            <a:ext cx="2011680" cy="594360"/>
          </a:xfrm>
          <a:prstGeom prst="rect">
            <a:avLst/>
          </a:prstGeom>
          <a:solidFill>
            <a:srgbClr val="162033"/>
          </a:solidFill>
          <a:ln/>
        </p:spPr>
      </p:sp>
      <p:sp>
        <p:nvSpPr>
          <p:cNvPr id="36" name="Shape 34"/>
          <p:cNvSpPr/>
          <p:nvPr/>
        </p:nvSpPr>
        <p:spPr>
          <a:xfrm>
            <a:off x="2834640" y="4480560"/>
            <a:ext cx="2743200" cy="594360"/>
          </a:xfrm>
          <a:prstGeom prst="rect">
            <a:avLst/>
          </a:prstGeom>
          <a:solidFill>
            <a:srgbClr val="162033"/>
          </a:solidFill>
          <a:ln/>
        </p:spPr>
      </p:sp>
      <p:sp>
        <p:nvSpPr>
          <p:cNvPr id="37" name="Shape 35"/>
          <p:cNvSpPr/>
          <p:nvPr/>
        </p:nvSpPr>
        <p:spPr>
          <a:xfrm>
            <a:off x="5669280" y="4480560"/>
            <a:ext cx="4846320" cy="594360"/>
          </a:xfrm>
          <a:prstGeom prst="rect">
            <a:avLst/>
          </a:prstGeom>
          <a:solidFill>
            <a:srgbClr val="162033"/>
          </a:solidFill>
          <a:ln/>
        </p:spPr>
      </p:sp>
      <p:sp>
        <p:nvSpPr>
          <p:cNvPr id="38" name="Text 36"/>
          <p:cNvSpPr/>
          <p:nvPr/>
        </p:nvSpPr>
        <p:spPr>
          <a:xfrm>
            <a:off x="822960" y="44805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风格不一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926080" y="44805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缺角色与口吻设定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760720" y="448056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补角色、风格、受众说明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31520" y="5394960"/>
            <a:ext cx="960120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2" name="Text 40"/>
          <p:cNvSpPr/>
          <p:nvPr/>
        </p:nvSpPr>
        <p:spPr>
          <a:xfrm>
            <a:off x="1005840" y="53949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调试顺序：先改任务 → 再改上下文 → 再改输出格式 → 最后改措辞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29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通用提示词模板：可直接套用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71600" y="1188720"/>
            <a:ext cx="9418320" cy="420624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0" y="1188720"/>
            <a:ext cx="941832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0" y="1463040"/>
            <a:ext cx="85039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你现在扮演【角色】。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请基于【背景资料 / 输入内容】，完成【具体任务】。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目标读者是【对象】，使用场景是【场景】。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请遵循以下要求：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优先满足【关键要求 1】、【关键要求 2】；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不要编造【禁止项】；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如果信息不足，请先指出缺口再继续；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输出格式为【Markdown / 表格 / 分段 / JSON】；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最后补充【检查项 / 风险提醒 / 下一步建议】。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557784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可封装进 Project / Gems / 智能体 / 团队模板库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29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828800" y="18288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第三部分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371600" y="2377440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技能增效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0" y="3246120"/>
            <a:ext cx="1216152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0" y="347472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Prompt 走向 MCP、Skill、Agent 与 Project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/ 29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五层概念关系：Prompt → MCP → Skill → Agent → Project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293876" y="1188720"/>
            <a:ext cx="9601200" cy="82296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93876" y="1188720"/>
            <a:ext cx="54864" cy="8229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1568196" y="11887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579876" y="118872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管理长期上下文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51876" y="11887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厨房档案柜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659636" y="2194560"/>
            <a:ext cx="8869680" cy="82296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659636" y="2194560"/>
            <a:ext cx="54864" cy="8229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1933956" y="21945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945636" y="21945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 + 调用 + 执行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86116" y="21945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助理厨师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025396" y="3200400"/>
            <a:ext cx="8138160" cy="82296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025396" y="3200400"/>
            <a:ext cx="54864" cy="8229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7" name="Text 15"/>
          <p:cNvSpPr/>
          <p:nvPr/>
        </p:nvSpPr>
        <p:spPr>
          <a:xfrm>
            <a:off x="2299716" y="32004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311396" y="320040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沉淀 SOP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20356" y="32004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菜谱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391156" y="4206240"/>
            <a:ext cx="7406640" cy="82296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391156" y="420624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2665476" y="42062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677156" y="42062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接外部能力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054596" y="42062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冰箱/灶台/烤箱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56916" y="5212080"/>
            <a:ext cx="6675120" cy="82296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56916" y="5212080"/>
            <a:ext cx="54864" cy="82296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7" name="Text 25"/>
          <p:cNvSpPr/>
          <p:nvPr/>
        </p:nvSpPr>
        <p:spPr>
          <a:xfrm>
            <a:off x="3031236" y="52120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042916" y="52120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一次性交代任务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688836" y="52120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对话输入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1520" y="630936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不是并列关系，而是一层层叠加的能力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/ 29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MCP：让 AI 接上外部世界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4754880" cy="201168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325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 Context Protocol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828800"/>
            <a:ext cx="4206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开源标准协议，让 AI 应用标准化接入外部数据源、工具和工作流。核心价值不在'联网'，而在标准化接入——一次封装，多处使用。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760720" y="1188720"/>
            <a:ext cx="5394960" cy="105156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760720" y="1188720"/>
            <a:ext cx="54864" cy="10515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280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读取能力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26480" y="16459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文件系统、知识库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数据库、搜索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760720" y="2423160"/>
            <a:ext cx="5394960" cy="105156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760720" y="2423160"/>
            <a:ext cx="54864" cy="10515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2514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执行能力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26480" y="28803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脚本、命令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调用、自动化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760720" y="3657600"/>
            <a:ext cx="5394960" cy="105156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760720" y="3657600"/>
            <a:ext cx="54864" cy="10515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3749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组织能力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26480" y="41148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统一接入、权限隔离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日志治理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5029200"/>
            <a:ext cx="10515600" cy="731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5029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边界提醒：MCP 提升的是可访问性和可执行性，不自动保证正确——鉴权、最小权限、审计、人工确认不可少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/ 29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Skill：把重复工作做成可移植的能力包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= 提示词的进化版，打包了目标、步骤、输入输出和质检点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3291840" cy="109728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737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1031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 Skill 用来干什么？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645920"/>
            <a:ext cx="3291840" cy="109728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80560" y="1737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80560" y="21031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适合什么输入？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63840" y="1645920"/>
            <a:ext cx="3291840" cy="109728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046720" y="1737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046720" y="21031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会产出什么结果？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017520"/>
            <a:ext cx="3291840" cy="109728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31089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34747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执行步骤是什么？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297680" y="3017520"/>
            <a:ext cx="3291840" cy="109728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480560" y="31089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480560" y="34747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何时停下提醒人工？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863840" y="3017520"/>
            <a:ext cx="3291840" cy="109728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046720" y="31089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046720" y="34747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怎样判断结果合格？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1520" y="4846320"/>
            <a:ext cx="10515600" cy="731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" y="4846320"/>
            <a:ext cx="54864" cy="7315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6" name="Text 24"/>
          <p:cNvSpPr/>
          <p:nvPr/>
        </p:nvSpPr>
        <p:spPr>
          <a:xfrm>
            <a:off x="1097280" y="484632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判断标准：三周内重复让 AI 做三次以上的任务，都值得做成 Skill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/ 29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Agent：什么时候该用，什么时候不该用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5120640" cy="384048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188720"/>
            <a:ext cx="54864" cy="38404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3258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适合上 Agent 的任务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20116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需要多步规划和动态决策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8720" y="26517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需要读上下文再决定下一步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32918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需要跨文件、跨工具协同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39319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人工操作本来就很耗时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188720"/>
            <a:ext cx="5120640" cy="384048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188720"/>
            <a:ext cx="54864" cy="3840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13258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不建议上 Agent 的任务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75120" y="20116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一步就能完成的简单生成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75120" y="26517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规则刚性、步骤固定的任务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75120" y="32918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高风险写操作且无人复核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75120" y="39319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对结果 100% 确定性要求极高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53949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先问自己：这个任务是不是本来就需要人连续做三步以上决策？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 / 29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Code 使用五步法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0515600" cy="822960"/>
          </a:xfrm>
          <a:prstGeom prst="rect">
            <a:avLst/>
          </a:prstGeom>
          <a:solidFill>
            <a:srgbClr val="162033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188720"/>
            <a:ext cx="54864" cy="8229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18872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920240" y="11887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读项目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931920" y="118872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扫描仓库结构，复述理解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194560"/>
            <a:ext cx="1051560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2194560"/>
            <a:ext cx="54864" cy="8229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19456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920240" y="21945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找入口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931920" y="219456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定位相关文件、函数和调用链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200400"/>
            <a:ext cx="10515600" cy="822960"/>
          </a:xfrm>
          <a:prstGeom prst="rect">
            <a:avLst/>
          </a:prstGeom>
          <a:solidFill>
            <a:srgbClr val="162033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3200400"/>
            <a:ext cx="54864" cy="8229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20040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920240" y="32004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提方案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931920" y="320040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给修改计划和影响范围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4206240"/>
            <a:ext cx="1051560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4206240"/>
            <a:ext cx="54864" cy="8229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420624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920240" y="42062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931920" y="420624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做最小改动，说明每个改动点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1520" y="5212080"/>
            <a:ext cx="10515600" cy="822960"/>
          </a:xfrm>
          <a:prstGeom prst="rect">
            <a:avLst/>
          </a:prstGeom>
          <a:solidFill>
            <a:srgbClr val="162033"/>
          </a:solidFill>
          <a:ln/>
        </p:spPr>
      </p:sp>
      <p:sp>
        <p:nvSpPr>
          <p:cNvPr id="26" name="Shape 24"/>
          <p:cNvSpPr/>
          <p:nvPr/>
        </p:nvSpPr>
        <p:spPr>
          <a:xfrm>
            <a:off x="731520" y="5212080"/>
            <a:ext cx="54864" cy="8229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7" name="Text 25"/>
          <p:cNvSpPr/>
          <p:nvPr/>
        </p:nvSpPr>
        <p:spPr>
          <a:xfrm>
            <a:off x="1005840" y="521208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920240" y="52120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验证收尾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931920" y="521208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跑测试，汇总变更与风险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31520" y="630936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核心原则：先解释再修改，先小改再扩展，先验证再提交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/ 29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Codex 与 Gemini CLI：另外两种编程 Agent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5120640" cy="420624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188720"/>
            <a:ext cx="512064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371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Codex（OpenAI）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011680"/>
            <a:ext cx="45720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Agent 并行、长时任务、隔离工作区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适合场景：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多个独立改动可以并行跑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较长时间持续处理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在隔离环境审查 diff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建议从分析型任务切入建立信任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188720"/>
            <a:ext cx="5120640" cy="420624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0" y="1188720"/>
            <a:ext cx="512064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371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Gemini CLI（Google）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0" y="2011680"/>
            <a:ext cx="45720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终端 Agent，适合数据分析、文档处理、配置解释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演示任务：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读 CSV 做分析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解释项目配置文件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根据 README 生成操作步骤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价值在于接管本地文件和命令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5669280"/>
            <a:ext cx="1051560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56692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统一原则：先读上下文 → 拆任务 → 限范围 → 小步验证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 / 29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Project：长期复用的上下文容器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把长期工作的上下文固定下来，让临时对话升级为持续协作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值得建 Project 的三个条件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103120"/>
            <a:ext cx="3291840" cy="640080"/>
          </a:xfrm>
          <a:prstGeom prst="rect">
            <a:avLst/>
          </a:prstGeom>
          <a:solidFill>
            <a:srgbClr val="162033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031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有持续上下文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2103120"/>
            <a:ext cx="3291840" cy="640080"/>
          </a:xfrm>
          <a:prstGeom prst="rect">
            <a:avLst/>
          </a:prstGeom>
          <a:solidFill>
            <a:srgbClr val="162033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21031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会反复产出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863840" y="2103120"/>
            <a:ext cx="3291840" cy="640080"/>
          </a:xfrm>
          <a:prstGeom prst="rect">
            <a:avLst/>
          </a:prstGeom>
          <a:solidFill>
            <a:srgbClr val="162033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0" y="21031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需要固定口径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3017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五步建设路径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3566160"/>
            <a:ext cx="1965960" cy="182880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" y="37033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41605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定目标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45720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一句话说清长期任务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06040" y="411480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926080" y="3566160"/>
            <a:ext cx="1965960" cy="182880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108960" y="37033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108960" y="41605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写指令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108960" y="45720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角色、范围、格式、禁止项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00600" y="411480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120640" y="3566160"/>
            <a:ext cx="1965960" cy="182880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303520" y="37033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303520" y="41605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传资料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03520" y="45720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规范、案例、模板、背景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95160" y="411480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315200" y="3566160"/>
            <a:ext cx="1965960" cy="182880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498080" y="37033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498080" y="41605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起手提示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498080" y="45720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预设高频入口任务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189720" y="411480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509760" y="3566160"/>
            <a:ext cx="1965960" cy="182880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9692640" y="37033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692640" y="41605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边用边迭代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692640" y="45720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修正不断写回指令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 / 29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828800" y="18288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第四部分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371600" y="2377440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自动化与知识库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0" y="3246120"/>
            <a:ext cx="1216152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0" y="347472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AI 从'会回答'走向'能落地'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 / 29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知识库的核心逻辑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3291840" cy="164592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188720"/>
            <a:ext cx="329184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3716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1874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检索相关知识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2860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从你的资料中找到相关内容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93192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389120" y="1188720"/>
            <a:ext cx="3291840" cy="164592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89120" y="1188720"/>
            <a:ext cx="329184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13716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0" y="1874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作为增强上下文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22860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将检索结果注入模型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58952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046720" y="1188720"/>
            <a:ext cx="3291840" cy="164592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46720" y="1188720"/>
            <a:ext cx="329184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0" y="13716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229600" y="1874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生成精确答案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0" y="22860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基于你的资料回答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3291840"/>
            <a:ext cx="10515600" cy="10972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Text 21"/>
          <p:cNvSpPr/>
          <p:nvPr/>
        </p:nvSpPr>
        <p:spPr>
          <a:xfrm>
            <a:off x="1097280" y="329184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根本公式：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知识库质量 = 资料质量 × 切片与检索质量 × 提示词约束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31520" y="4754880"/>
            <a:ext cx="10515600" cy="822960"/>
          </a:xfrm>
          <a:prstGeom prst="rect">
            <a:avLst/>
          </a:prstGeom>
          <a:solidFill>
            <a:srgbClr val="162033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" y="475488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1097280" y="475488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常见误区：觉得知识库不好用，真正原因往往是资料治理没跟上——版本混乱、口径冲突、过时内容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 / 29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三种知识库路线对比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3383280" cy="411480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188720"/>
            <a:ext cx="338328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4173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NotebookLM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19659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资料研究工具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05840" y="2468880"/>
            <a:ext cx="2834640" cy="27432"/>
          </a:xfrm>
          <a:prstGeom prst="rect">
            <a:avLst/>
          </a:prstGeom>
          <a:solidFill>
            <a:srgbClr val="2A3A52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6517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适合场景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297180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读长文档、做课程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资料问答、生成摘要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05840" y="4023360"/>
            <a:ext cx="2834640" cy="27432"/>
          </a:xfrm>
          <a:prstGeom prst="rect">
            <a:avLst/>
          </a:prstGeom>
          <a:solidFill>
            <a:srgbClr val="2A3A52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42062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围绕一批文档持续学习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0" y="1188720"/>
            <a:ext cx="3383280" cy="411480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89120" y="1188720"/>
            <a:ext cx="338328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14173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663440" y="19659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轻量知识库工作台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2468880"/>
            <a:ext cx="2834640" cy="27432"/>
          </a:xfrm>
          <a:prstGeom prst="rect">
            <a:avLst/>
          </a:prstGeom>
          <a:solidFill>
            <a:srgbClr val="2A3A52"/>
          </a:solidFill>
          <a:ln/>
        </p:spPr>
      </p:sp>
      <p:sp>
        <p:nvSpPr>
          <p:cNvPr id="19" name="Text 17"/>
          <p:cNvSpPr/>
          <p:nvPr/>
        </p:nvSpPr>
        <p:spPr>
          <a:xfrm>
            <a:off x="4663440" y="26517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适合场景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63440" y="297180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搜读写一体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网页收藏、轻量问答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4023360"/>
            <a:ext cx="2834640" cy="27432"/>
          </a:xfrm>
          <a:prstGeom prst="rect">
            <a:avLst/>
          </a:prstGeom>
          <a:solidFill>
            <a:srgbClr val="2A3A52"/>
          </a:solidFill>
          <a:ln/>
        </p:spPr>
      </p:sp>
      <p:sp>
        <p:nvSpPr>
          <p:cNvPr id="22" name="Text 20"/>
          <p:cNvSpPr/>
          <p:nvPr/>
        </p:nvSpPr>
        <p:spPr>
          <a:xfrm>
            <a:off x="4663440" y="42062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快速积累个人资料池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046720" y="1188720"/>
            <a:ext cx="3383280" cy="411480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046720" y="1188720"/>
            <a:ext cx="33832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8321040" y="14173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Dify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321040" y="19659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应用平台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321040" y="2468880"/>
            <a:ext cx="2834640" cy="27432"/>
          </a:xfrm>
          <a:prstGeom prst="rect">
            <a:avLst/>
          </a:prstGeom>
          <a:solidFill>
            <a:srgbClr val="2A3A52"/>
          </a:solidFill>
          <a:ln/>
        </p:spPr>
      </p:sp>
      <p:sp>
        <p:nvSpPr>
          <p:cNvPr id="28" name="Text 26"/>
          <p:cNvSpPr/>
          <p:nvPr/>
        </p:nvSpPr>
        <p:spPr>
          <a:xfrm>
            <a:off x="8321040" y="26517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适合场景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321040" y="297180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内部助手、工作流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客服机器人、流程编排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321040" y="4023360"/>
            <a:ext cx="2834640" cy="27432"/>
          </a:xfrm>
          <a:prstGeom prst="rect">
            <a:avLst/>
          </a:prstGeom>
          <a:solidFill>
            <a:srgbClr val="2A3A52"/>
          </a:solidFill>
          <a:ln/>
        </p:spPr>
      </p:sp>
      <p:sp>
        <p:nvSpPr>
          <p:cNvPr id="31" name="Text 29"/>
          <p:cNvSpPr/>
          <p:nvPr/>
        </p:nvSpPr>
        <p:spPr>
          <a:xfrm>
            <a:off x="8321040" y="42062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从问答走向企业应用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1520" y="5577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要学习研究选 NotebookLM；要轻量办公选 ima；要做企业级应用选 Dify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 / 29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自动化工作流：从聊天升级到流程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在流程中承担：分类、摘要、抽取、判断、路由、补全、回复、生成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1737360" cy="4572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002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0" y="1600200"/>
            <a:ext cx="2194560" cy="4572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0" y="16002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适合谁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1600200"/>
            <a:ext cx="2377440" cy="4572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600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主要特点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0" y="1600200"/>
            <a:ext cx="3749040" cy="4572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0" y="16002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对技术公司的建议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2148840"/>
            <a:ext cx="1737360" cy="594360"/>
          </a:xfrm>
          <a:prstGeom prst="rect">
            <a:avLst/>
          </a:prstGeom>
          <a:solidFill>
            <a:srgbClr val="162033"/>
          </a:solidFill>
          <a:ln/>
        </p:spPr>
      </p:sp>
      <p:sp>
        <p:nvSpPr>
          <p:cNvPr id="15" name="Shape 13"/>
          <p:cNvSpPr/>
          <p:nvPr/>
        </p:nvSpPr>
        <p:spPr>
          <a:xfrm>
            <a:off x="2560320" y="2148840"/>
            <a:ext cx="2194560" cy="594360"/>
          </a:xfrm>
          <a:prstGeom prst="rect">
            <a:avLst/>
          </a:prstGeom>
          <a:solidFill>
            <a:srgbClr val="162033"/>
          </a:solidFill>
          <a:ln/>
        </p:spPr>
      </p:sp>
      <p:sp>
        <p:nvSpPr>
          <p:cNvPr id="16" name="Shape 14"/>
          <p:cNvSpPr/>
          <p:nvPr/>
        </p:nvSpPr>
        <p:spPr>
          <a:xfrm>
            <a:off x="4846320" y="2148840"/>
            <a:ext cx="2377440" cy="594360"/>
          </a:xfrm>
          <a:prstGeom prst="rect">
            <a:avLst/>
          </a:prstGeom>
          <a:solidFill>
            <a:srgbClr val="162033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0" y="2148840"/>
            <a:ext cx="3749040" cy="594360"/>
          </a:xfrm>
          <a:prstGeom prst="rect">
            <a:avLst/>
          </a:prstGeom>
          <a:solidFill>
            <a:srgbClr val="162033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214884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n8n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51760" y="21488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有技术基础、自建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214884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自托管、API灵活、私有化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406640" y="214884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内部流程、系统集成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2834640"/>
            <a:ext cx="1737360" cy="594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Shape 21"/>
          <p:cNvSpPr/>
          <p:nvPr/>
        </p:nvSpPr>
        <p:spPr>
          <a:xfrm>
            <a:off x="2560320" y="2834640"/>
            <a:ext cx="2194560" cy="594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Shape 22"/>
          <p:cNvSpPr/>
          <p:nvPr/>
        </p:nvSpPr>
        <p:spPr>
          <a:xfrm>
            <a:off x="4846320" y="2834640"/>
            <a:ext cx="2377440" cy="594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0" y="2834640"/>
            <a:ext cx="3749040" cy="594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283464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Dify Workflow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651760" y="28346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知识库与流程一体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37760" y="283464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AI应用与知识库衔接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406640" y="283464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从问答扩展到流程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31520" y="3520440"/>
            <a:ext cx="1737360" cy="594360"/>
          </a:xfrm>
          <a:prstGeom prst="rect">
            <a:avLst/>
          </a:prstGeom>
          <a:solidFill>
            <a:srgbClr val="162033"/>
          </a:solidFill>
          <a:ln/>
        </p:spPr>
      </p:sp>
      <p:sp>
        <p:nvSpPr>
          <p:cNvPr id="31" name="Shape 29"/>
          <p:cNvSpPr/>
          <p:nvPr/>
        </p:nvSpPr>
        <p:spPr>
          <a:xfrm>
            <a:off x="2560320" y="3520440"/>
            <a:ext cx="2194560" cy="594360"/>
          </a:xfrm>
          <a:prstGeom prst="rect">
            <a:avLst/>
          </a:prstGeom>
          <a:solidFill>
            <a:srgbClr val="162033"/>
          </a:solidFill>
          <a:ln/>
        </p:spPr>
      </p:sp>
      <p:sp>
        <p:nvSpPr>
          <p:cNvPr id="32" name="Shape 30"/>
          <p:cNvSpPr/>
          <p:nvPr/>
        </p:nvSpPr>
        <p:spPr>
          <a:xfrm>
            <a:off x="4846320" y="3520440"/>
            <a:ext cx="2377440" cy="594360"/>
          </a:xfrm>
          <a:prstGeom prst="rect">
            <a:avLst/>
          </a:prstGeom>
          <a:solidFill>
            <a:srgbClr val="162033"/>
          </a:solidFill>
          <a:ln/>
        </p:spPr>
      </p:sp>
      <p:sp>
        <p:nvSpPr>
          <p:cNvPr id="33" name="Shape 31"/>
          <p:cNvSpPr/>
          <p:nvPr/>
        </p:nvSpPr>
        <p:spPr>
          <a:xfrm>
            <a:off x="7315200" y="3520440"/>
            <a:ext cx="3749040" cy="594360"/>
          </a:xfrm>
          <a:prstGeom prst="rect">
            <a:avLst/>
          </a:prstGeom>
          <a:solidFill>
            <a:srgbClr val="162033"/>
          </a:solidFill>
          <a:ln/>
        </p:spPr>
      </p:sp>
      <p:sp>
        <p:nvSpPr>
          <p:cNvPr id="34" name="Text 32"/>
          <p:cNvSpPr/>
          <p:nvPr/>
        </p:nvSpPr>
        <p:spPr>
          <a:xfrm>
            <a:off x="822960" y="352044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飞书工作流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651760" y="35204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飞书办公团队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937760" y="352044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贴近飞书协作链路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406640" y="352044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审批、通知、表格流转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31520" y="4206240"/>
            <a:ext cx="1737360" cy="594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9" name="Shape 37"/>
          <p:cNvSpPr/>
          <p:nvPr/>
        </p:nvSpPr>
        <p:spPr>
          <a:xfrm>
            <a:off x="2560320" y="4206240"/>
            <a:ext cx="2194560" cy="594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0" name="Shape 38"/>
          <p:cNvSpPr/>
          <p:nvPr/>
        </p:nvSpPr>
        <p:spPr>
          <a:xfrm>
            <a:off x="4846320" y="4206240"/>
            <a:ext cx="2377440" cy="594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Shape 39"/>
          <p:cNvSpPr/>
          <p:nvPr/>
        </p:nvSpPr>
        <p:spPr>
          <a:xfrm>
            <a:off x="7315200" y="4206240"/>
            <a:ext cx="3749040" cy="594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2" name="Text 40"/>
          <p:cNvSpPr/>
          <p:nvPr/>
        </p:nvSpPr>
        <p:spPr>
          <a:xfrm>
            <a:off x="822960" y="420624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Coze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651760" y="42062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低代码快速拼装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937760" y="420624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可视化画布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406640" y="420624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快速试验、内容流程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31520" y="4892040"/>
            <a:ext cx="1737360" cy="594360"/>
          </a:xfrm>
          <a:prstGeom prst="rect">
            <a:avLst/>
          </a:prstGeom>
          <a:solidFill>
            <a:srgbClr val="162033"/>
          </a:solidFill>
          <a:ln/>
        </p:spPr>
      </p:sp>
      <p:sp>
        <p:nvSpPr>
          <p:cNvPr id="47" name="Shape 45"/>
          <p:cNvSpPr/>
          <p:nvPr/>
        </p:nvSpPr>
        <p:spPr>
          <a:xfrm>
            <a:off x="2560320" y="4892040"/>
            <a:ext cx="2194560" cy="594360"/>
          </a:xfrm>
          <a:prstGeom prst="rect">
            <a:avLst/>
          </a:prstGeom>
          <a:solidFill>
            <a:srgbClr val="162033"/>
          </a:solidFill>
          <a:ln/>
        </p:spPr>
      </p:sp>
      <p:sp>
        <p:nvSpPr>
          <p:cNvPr id="48" name="Shape 46"/>
          <p:cNvSpPr/>
          <p:nvPr/>
        </p:nvSpPr>
        <p:spPr>
          <a:xfrm>
            <a:off x="4846320" y="4892040"/>
            <a:ext cx="2377440" cy="594360"/>
          </a:xfrm>
          <a:prstGeom prst="rect">
            <a:avLst/>
          </a:prstGeom>
          <a:solidFill>
            <a:srgbClr val="162033"/>
          </a:solidFill>
          <a:ln/>
        </p:spPr>
      </p:sp>
      <p:sp>
        <p:nvSpPr>
          <p:cNvPr id="49" name="Shape 47"/>
          <p:cNvSpPr/>
          <p:nvPr/>
        </p:nvSpPr>
        <p:spPr>
          <a:xfrm>
            <a:off x="7315200" y="4892040"/>
            <a:ext cx="3749040" cy="594360"/>
          </a:xfrm>
          <a:prstGeom prst="rect">
            <a:avLst/>
          </a:prstGeom>
          <a:solidFill>
            <a:srgbClr val="162033"/>
          </a:solidFill>
          <a:ln/>
        </p:spPr>
      </p:sp>
      <p:sp>
        <p:nvSpPr>
          <p:cNvPr id="50" name="Text 48"/>
          <p:cNvSpPr/>
          <p:nvPr/>
        </p:nvSpPr>
        <p:spPr>
          <a:xfrm>
            <a:off x="822960" y="489204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Make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2651760" y="48920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SaaS化、生态连接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937760" y="489204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集成生态广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406640" y="489204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线上内容与营销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31520" y="5669280"/>
            <a:ext cx="1051560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5" name="Text 53"/>
          <p:cNvSpPr/>
          <p:nvPr/>
        </p:nvSpPr>
        <p:spPr>
          <a:xfrm>
            <a:off x="1005840" y="56692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选型公式：越靠近内网 → n8n/Dify  |  越靠近飞书 → 飞书工作流  |  越靠近线上 → Coze/Make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 / 29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技术公司最值得优先落地的场景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0515600" cy="685800"/>
          </a:xfrm>
          <a:prstGeom prst="rect">
            <a:avLst/>
          </a:prstGeom>
          <a:solidFill>
            <a:srgbClr val="162033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188720"/>
            <a:ext cx="54864" cy="6858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18872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内部资料问答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0" y="118872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Dify / NotebookLM / ima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0" y="118872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投入低、价值直观、见效快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1965960"/>
            <a:ext cx="10515600" cy="685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1965960"/>
            <a:ext cx="54864" cy="6858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196596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需求文档与方案整理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0" y="196596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 + Skill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0" y="196596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高频重复、易标准化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2743200"/>
            <a:ext cx="10515600" cy="685800"/>
          </a:xfrm>
          <a:prstGeom prst="rect">
            <a:avLst/>
          </a:prstGeom>
          <a:solidFill>
            <a:srgbClr val="162033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2743200"/>
            <a:ext cx="54864" cy="6858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274320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研发辅助与代码排错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0" y="274320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Code / Codex / CLI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0" y="274320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直接提升技术产出效率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3520440"/>
            <a:ext cx="10515600" cy="685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3520440"/>
            <a:ext cx="54864" cy="6858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352044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工单摘要与流转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114800" y="352044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n8n / Dify / 飞书工作流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0" y="352044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流程清晰、容易量化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" y="4297680"/>
            <a:ext cx="10515600" cy="685800"/>
          </a:xfrm>
          <a:prstGeom prst="rect">
            <a:avLst/>
          </a:prstGeom>
          <a:solidFill>
            <a:srgbClr val="162033"/>
          </a:solidFill>
          <a:ln/>
        </p:spPr>
      </p:sp>
      <p:sp>
        <p:nvSpPr>
          <p:cNvPr id="26" name="Shape 24"/>
          <p:cNvSpPr/>
          <p:nvPr/>
        </p:nvSpPr>
        <p:spPr>
          <a:xfrm>
            <a:off x="731520" y="4297680"/>
            <a:ext cx="54864" cy="6858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7" name="Text 25"/>
          <p:cNvSpPr/>
          <p:nvPr/>
        </p:nvSpPr>
        <p:spPr>
          <a:xfrm>
            <a:off x="1005840" y="429768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周报月报自动整理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114800" y="429768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 + 工作流 + 表格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772400" y="429768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最容易做团队示范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31520" y="5074920"/>
            <a:ext cx="10515600" cy="685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1" name="Shape 29"/>
          <p:cNvSpPr/>
          <p:nvPr/>
        </p:nvSpPr>
        <p:spPr>
          <a:xfrm>
            <a:off x="731520" y="5074920"/>
            <a:ext cx="54864" cy="6858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2" name="Text 30"/>
          <p:cNvSpPr/>
          <p:nvPr/>
        </p:nvSpPr>
        <p:spPr>
          <a:xfrm>
            <a:off x="1005840" y="507492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 / 支持助手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114800" y="507492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Dify + 知识库 + Workflow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772400" y="507492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可持续扩展到业务入口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31520" y="5943600"/>
            <a:ext cx="10515600" cy="0"/>
          </a:xfrm>
          <a:prstGeom prst="rect">
            <a:avLst/>
          </a:prstGeom>
          <a:noFill/>
          <a:ln w="12700">
            <a:solidFill>
              <a:srgbClr val="2A3A5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5989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优先级原则：先做高频、低风险、容易量化的场景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 / 29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 天推进路线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3383280" cy="457200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188720"/>
            <a:ext cx="338328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4173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1-30 天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9202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基础认知与个人提效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05840" y="2377440"/>
            <a:ext cx="2834640" cy="27432"/>
          </a:xfrm>
          <a:prstGeom prst="rect">
            <a:avLst/>
          </a:prstGeom>
          <a:solidFill>
            <a:srgbClr val="2A3A52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560320"/>
            <a:ext cx="2834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统一培训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沉淀 5-10 个常用提示词模板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建立 1 个 Project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演示 1 个编程 Agent 场景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0" y="1188720"/>
            <a:ext cx="3383280" cy="457200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89120" y="1188720"/>
            <a:ext cx="338328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14173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31-60 天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63440" y="19202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小范围知识沉淀与试点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2377440"/>
            <a:ext cx="2834640" cy="27432"/>
          </a:xfrm>
          <a:prstGeom prst="rect">
            <a:avLst/>
          </a:prstGeom>
          <a:solidFill>
            <a:srgbClr val="2A3A52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560320"/>
            <a:ext cx="2834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选 1 个团队做知识库试点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整理核心资料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验证检索效果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形成 1 个 Skill 库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46720" y="1188720"/>
            <a:ext cx="3383280" cy="457200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46720" y="1188720"/>
            <a:ext cx="33832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8321040" y="14173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61-90 天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21040" y="19202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第一个自动化闭环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321040" y="2377440"/>
            <a:ext cx="2834640" cy="27432"/>
          </a:xfrm>
          <a:prstGeom prst="rect">
            <a:avLst/>
          </a:prstGeom>
          <a:solidFill>
            <a:srgbClr val="2A3A52"/>
          </a:solidFill>
          <a:ln/>
        </p:spPr>
      </p:sp>
      <p:sp>
        <p:nvSpPr>
          <p:cNvPr id="22" name="Text 20"/>
          <p:cNvSpPr/>
          <p:nvPr/>
        </p:nvSpPr>
        <p:spPr>
          <a:xfrm>
            <a:off x="8321040" y="2560320"/>
            <a:ext cx="2834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选 1 个高频场景接入工作流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加入 AI 节点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统计节省时间与错误率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5989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核心思路：先让个人获得可见收益 → 推动团队共享 → 最后进入系统级自动化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 / 29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核心结论：带走这三件事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0515600" cy="137160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188720"/>
            <a:ext cx="64008" cy="13716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2801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011680" y="132588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按任务选工具，不按热度选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011680" y="18288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开放式问题用大模型，资料问题用知识库，改代码用 Agent，跨系统用工作流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834640"/>
            <a:ext cx="10515600" cy="137160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2834640"/>
            <a:ext cx="64008" cy="13716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292608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011680" y="29718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提示词的价值在稳定和复用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011680" y="34747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不在于写得多花哨，关键是角色、任务、上下文、约束、输出、验收六个槽位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4480560"/>
            <a:ext cx="10515600" cy="137160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4480560"/>
            <a:ext cx="64008" cy="1371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457200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2011680" y="46177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先让个人用起来，再向团队扩展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011680" y="51206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先做高频低风险场景拿到收益，再扩到知识库、Agent 和工作流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 / 29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0" y="228600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谢谢大家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303520" y="3200400"/>
            <a:ext cx="155448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0" y="347472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 &amp; A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AI技术团队使用与落地教程</dc:title>
  <dc:subject>PptxGenJS Presentation</dc:subject>
  <dc:creator>AI技术团队</dc:creator>
  <cp:lastModifiedBy>AI技术团队</cp:lastModifiedBy>
  <cp:revision>1</cp:revision>
  <dcterms:created xsi:type="dcterms:W3CDTF">2026-03-28T07:54:58Z</dcterms:created>
  <dcterms:modified xsi:type="dcterms:W3CDTF">2026-03-28T07:54:58Z</dcterms:modified>
</cp:coreProperties>
</file>